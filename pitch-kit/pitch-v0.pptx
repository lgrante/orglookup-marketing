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1097280"/>
            <a:ext cx="7680960" cy="457200"/>
          </a:xfrm>
          <a:prstGeom prst="rect">
            <a:avLst/>
          </a:prstGeom>
          <a:noFill/>
          <a:ln/>
        </p:spPr>
        <p:txBody>
          <a:bodyPr wrap="square" lIns="0" tIns="0" rIns="0" bIns="0" rtlCol="0" anchor="ctr"/>
          <a:lstStyle/>
          <a:p>
            <a:pPr indent="0" marL="0">
              <a:buNone/>
            </a:pPr>
            <a:r>
              <a:rPr lang="en-US" sz="1800" b="1" spc="800" kern="0" dirty="0">
                <a:solidFill>
                  <a:srgbClr val="9CA3AF"/>
                </a:solidFill>
                <a:latin typeface="Arial" pitchFamily="34" charset="0"/>
                <a:ea typeface="Arial" pitchFamily="34" charset="-122"/>
                <a:cs typeface="Arial" pitchFamily="34" charset="-120"/>
              </a:rPr>
              <a:t>ORGLOOKUP</a:t>
            </a:r>
            <a:endParaRPr lang="en-US" sz="1800" dirty="0"/>
          </a:p>
        </p:txBody>
      </p:sp>
      <p:sp>
        <p:nvSpPr>
          <p:cNvPr id="4" name="Text 1"/>
          <p:cNvSpPr/>
          <p:nvPr/>
        </p:nvSpPr>
        <p:spPr>
          <a:xfrm>
            <a:off x="731520" y="1645920"/>
            <a:ext cx="7680960" cy="12801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Déployez Agentforce</a:t>
            </a:r>
            <a:endParaRPr lang="en-US" sz="4000" dirty="0"/>
          </a:p>
          <a:p>
            <a:pPr indent="0" marL="0">
              <a:buNone/>
            </a:pPr>
            <a:r>
              <a:rPr lang="en-US" sz="4000" b="1" dirty="0">
                <a:solidFill>
                  <a:srgbClr val="FF9B26"/>
                </a:solidFill>
                <a:latin typeface="Georgia" pitchFamily="34" charset="0"/>
                <a:ea typeface="Georgia" pitchFamily="34" charset="-122"/>
                <a:cs typeface="Georgia" pitchFamily="34" charset="-120"/>
              </a:rPr>
              <a:t>en toute confiance.</a:t>
            </a:r>
            <a:endParaRPr lang="en-US" sz="4000" dirty="0"/>
          </a:p>
        </p:txBody>
      </p:sp>
      <p:sp>
        <p:nvSpPr>
          <p:cNvPr id="5" name="Text 2"/>
          <p:cNvSpPr/>
          <p:nvPr/>
        </p:nvSpPr>
        <p:spPr>
          <a:xfrm>
            <a:off x="731520" y="3108960"/>
            <a:ext cx="6400800" cy="731520"/>
          </a:xfrm>
          <a:prstGeom prst="rect">
            <a:avLst/>
          </a:prstGeom>
          <a:noFill/>
          <a:ln/>
        </p:spPr>
        <p:txBody>
          <a:bodyPr wrap="square" lIns="0" tIns="0" rIns="0" bIns="0" rtlCol="0" anchor="ctr"/>
          <a:lstStyle/>
          <a:p>
            <a:pPr indent="0" marL="0">
              <a:lnSpc>
                <a:spcPct val="130000"/>
              </a:lnSpc>
              <a:buNone/>
            </a:pPr>
            <a:r>
              <a:rPr lang="en-US" sz="1400" dirty="0">
                <a:solidFill>
                  <a:srgbClr val="9CA3AF"/>
                </a:solidFill>
                <a:latin typeface="Calibri" pitchFamily="34" charset="0"/>
                <a:ea typeface="Calibri" pitchFamily="34" charset="-122"/>
                <a:cs typeface="Calibri" pitchFamily="34" charset="-120"/>
              </a:rPr>
              <a:t>150 000 entreprises utilisent Salesforce. Toutes ont de la dette technique.</a:t>
            </a:r>
            <a:endParaRPr lang="en-US" sz="1400" dirty="0"/>
          </a:p>
          <a:p>
            <a:pPr indent="0" marL="0">
              <a:lnSpc>
                <a:spcPct val="130000"/>
              </a:lnSpc>
              <a:buNone/>
            </a:pPr>
            <a:r>
              <a:rPr lang="en-US" sz="1400" dirty="0">
                <a:solidFill>
                  <a:srgbClr val="9CA3AF"/>
                </a:solidFill>
                <a:latin typeface="Calibri" pitchFamily="34" charset="0"/>
                <a:ea typeface="Calibri" pitchFamily="34" charset="-122"/>
                <a:cs typeface="Calibri" pitchFamily="34" charset="-120"/>
              </a:rPr>
              <a:t>Agentforce les force enfin a la traiter. OrgLookup les accompagne.</a:t>
            </a:r>
            <a:endParaRPr lang="en-US" sz="1400" dirty="0"/>
          </a:p>
        </p:txBody>
      </p:sp>
      <p:pic>
        <p:nvPicPr>
          <p:cNvPr id="6" name="Image 1" descr="preencoded.png">    </p:cNvPr>
          <p:cNvPicPr>
            <a:picLocks noChangeAspect="1"/>
          </p:cNvPicPr>
          <p:nvPr/>
        </p:nvPicPr>
        <p:blipFill>
          <a:blip r:embed="rId2"/>
          <a:stretch>
            <a:fillRect/>
          </a:stretch>
        </p:blipFill>
        <p:spPr>
          <a:xfrm>
            <a:off x="0" y="4869180"/>
            <a:ext cx="9144000" cy="274320"/>
          </a:xfrm>
          <a:prstGeom prst="rect">
            <a:avLst/>
          </a:prstGeom>
        </p:spPr>
      </p:pic>
      <p:sp>
        <p:nvSpPr>
          <p:cNvPr id="7" name="Text 3"/>
          <p:cNvSpPr/>
          <p:nvPr/>
        </p:nvSpPr>
        <p:spPr>
          <a:xfrm>
            <a:off x="731520" y="4297680"/>
            <a:ext cx="457200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Louis Grante — Avril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La vague des agents IA dans les entreprises</a:t>
            </a:r>
            <a:endParaRPr lang="en-US" sz="2800" dirty="0"/>
          </a:p>
        </p:txBody>
      </p:sp>
      <p:sp>
        <p:nvSpPr>
          <p:cNvPr id="4" name="Text 1"/>
          <p:cNvSpPr/>
          <p:nvPr/>
        </p:nvSpPr>
        <p:spPr>
          <a:xfrm>
            <a:off x="731520" y="914400"/>
            <a:ext cx="7680960" cy="8229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Les grandes plateformes SaaS (Salesforce, Microsoft, ServiceNow) intègrent des agents IA autonomes directement dans leurs produits. L'idée : automatiser les tâches répétitives — support client, qualification de leads, gestion de commandes — grâce à des agents qui raisonnent et agissent seuls.</a:t>
            </a:r>
            <a:endParaRPr lang="en-US" sz="1200" dirty="0"/>
          </a:p>
        </p:txBody>
      </p:sp>
      <p:sp>
        <p:nvSpPr>
          <p:cNvPr id="5" name="Shape 2"/>
          <p:cNvSpPr/>
          <p:nvPr/>
        </p:nvSpPr>
        <p:spPr>
          <a:xfrm>
            <a:off x="457200" y="2011680"/>
            <a:ext cx="1920240" cy="2103120"/>
          </a:xfrm>
          <a:prstGeom prst="rect">
            <a:avLst/>
          </a:prstGeom>
          <a:solidFill>
            <a:srgbClr val="1A1D27"/>
          </a:solidFill>
          <a:ln/>
        </p:spPr>
      </p:sp>
      <p:sp>
        <p:nvSpPr>
          <p:cNvPr id="6" name="Shape 3"/>
          <p:cNvSpPr/>
          <p:nvPr/>
        </p:nvSpPr>
        <p:spPr>
          <a:xfrm>
            <a:off x="457200" y="2011680"/>
            <a:ext cx="1920240" cy="45720"/>
          </a:xfrm>
          <a:prstGeom prst="rect">
            <a:avLst/>
          </a:prstGeom>
          <a:solidFill>
            <a:srgbClr val="374151"/>
          </a:solidFill>
          <a:ln/>
        </p:spPr>
      </p:sp>
      <p:sp>
        <p:nvSpPr>
          <p:cNvPr id="7" name="Text 4"/>
          <p:cNvSpPr/>
          <p:nvPr/>
        </p:nvSpPr>
        <p:spPr>
          <a:xfrm>
            <a:off x="457200" y="2148840"/>
            <a:ext cx="1920240" cy="274320"/>
          </a:xfrm>
          <a:prstGeom prst="rect">
            <a:avLst/>
          </a:prstGeom>
          <a:noFill/>
          <a:ln/>
        </p:spPr>
        <p:txBody>
          <a:bodyPr wrap="square" lIns="0" tIns="0" rIns="0" bIns="0" rtlCol="0" anchor="ctr"/>
          <a:lstStyle/>
          <a:p>
            <a:pPr algn="ctr" indent="0" marL="0">
              <a:buNone/>
            </a:pPr>
            <a:r>
              <a:rPr lang="en-US" sz="1100" b="1" dirty="0">
                <a:solidFill>
                  <a:srgbClr val="3B82F6"/>
                </a:solidFill>
                <a:latin typeface="Arial" pitchFamily="34" charset="0"/>
                <a:ea typeface="Arial" pitchFamily="34" charset="-122"/>
                <a:cs typeface="Arial" pitchFamily="34" charset="-120"/>
              </a:rPr>
              <a:t>Sept 2024</a:t>
            </a:r>
            <a:endParaRPr lang="en-US" sz="1100" dirty="0"/>
          </a:p>
        </p:txBody>
      </p:sp>
      <p:sp>
        <p:nvSpPr>
          <p:cNvPr id="8" name="Text 5"/>
          <p:cNvSpPr/>
          <p:nvPr/>
        </p:nvSpPr>
        <p:spPr>
          <a:xfrm>
            <a:off x="594360" y="2468880"/>
            <a:ext cx="1645920" cy="731520"/>
          </a:xfrm>
          <a:prstGeom prst="rect">
            <a:avLst/>
          </a:prstGeom>
          <a:noFill/>
          <a:ln/>
        </p:spPr>
        <p:txBody>
          <a:bodyPr wrap="square" lIns="0" tIns="0" rIns="0" bIns="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Salesforce lance</a:t>
            </a:r>
            <a:endParaRPr lang="en-US" sz="1000" dirty="0"/>
          </a:p>
          <a:p>
            <a:pPr algn="ctr" indent="0" marL="0">
              <a:buNone/>
            </a:pPr>
            <a:r>
              <a:rPr lang="en-US" sz="1000" dirty="0">
                <a:solidFill>
                  <a:srgbClr val="E5E7EB"/>
                </a:solidFill>
                <a:latin typeface="Calibri" pitchFamily="34" charset="0"/>
                <a:ea typeface="Calibri" pitchFamily="34" charset="-122"/>
                <a:cs typeface="Calibri" pitchFamily="34" charset="-120"/>
              </a:rPr>
              <a:t>Agentforce au</a:t>
            </a:r>
            <a:endParaRPr lang="en-US" sz="1000" dirty="0"/>
          </a:p>
          <a:p>
            <a:pPr algn="ctr" indent="0" marL="0">
              <a:buNone/>
            </a:pPr>
            <a:r>
              <a:rPr lang="en-US" sz="1000" dirty="0">
                <a:solidFill>
                  <a:srgbClr val="E5E7EB"/>
                </a:solidFill>
                <a:latin typeface="Calibri" pitchFamily="34" charset="0"/>
                <a:ea typeface="Calibri" pitchFamily="34" charset="-122"/>
                <a:cs typeface="Calibri" pitchFamily="34" charset="-120"/>
              </a:rPr>
              <a:t>Dreamforce</a:t>
            </a:r>
            <a:endParaRPr lang="en-US" sz="1000" dirty="0"/>
          </a:p>
        </p:txBody>
      </p:sp>
      <p:sp>
        <p:nvSpPr>
          <p:cNvPr id="9" name="Shape 6"/>
          <p:cNvSpPr/>
          <p:nvPr/>
        </p:nvSpPr>
        <p:spPr>
          <a:xfrm>
            <a:off x="731520" y="3246120"/>
            <a:ext cx="1371600" cy="27432"/>
          </a:xfrm>
          <a:prstGeom prst="rect">
            <a:avLst/>
          </a:prstGeom>
          <a:solidFill>
            <a:srgbClr val="374151"/>
          </a:solidFill>
          <a:ln/>
        </p:spPr>
      </p:sp>
      <p:sp>
        <p:nvSpPr>
          <p:cNvPr id="10" name="Text 7"/>
          <p:cNvSpPr/>
          <p:nvPr/>
        </p:nvSpPr>
        <p:spPr>
          <a:xfrm>
            <a:off x="594360" y="3337560"/>
            <a:ext cx="1645920" cy="548640"/>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10 000 prototypes</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créés en 3 jours</a:t>
            </a:r>
            <a:endParaRPr lang="en-US" sz="900" dirty="0"/>
          </a:p>
        </p:txBody>
      </p:sp>
      <p:sp>
        <p:nvSpPr>
          <p:cNvPr id="11" name="Shape 8"/>
          <p:cNvSpPr/>
          <p:nvPr/>
        </p:nvSpPr>
        <p:spPr>
          <a:xfrm>
            <a:off x="2606040" y="2011680"/>
            <a:ext cx="1920240" cy="2103120"/>
          </a:xfrm>
          <a:prstGeom prst="rect">
            <a:avLst/>
          </a:prstGeom>
          <a:solidFill>
            <a:srgbClr val="1A1D27"/>
          </a:solidFill>
          <a:ln/>
        </p:spPr>
      </p:sp>
      <p:sp>
        <p:nvSpPr>
          <p:cNvPr id="12" name="Shape 9"/>
          <p:cNvSpPr/>
          <p:nvPr/>
        </p:nvSpPr>
        <p:spPr>
          <a:xfrm>
            <a:off x="2606040" y="2011680"/>
            <a:ext cx="1920240" cy="45720"/>
          </a:xfrm>
          <a:prstGeom prst="rect">
            <a:avLst/>
          </a:prstGeom>
          <a:solidFill>
            <a:srgbClr val="374151"/>
          </a:solidFill>
          <a:ln/>
        </p:spPr>
      </p:sp>
      <p:sp>
        <p:nvSpPr>
          <p:cNvPr id="13" name="Text 10"/>
          <p:cNvSpPr/>
          <p:nvPr/>
        </p:nvSpPr>
        <p:spPr>
          <a:xfrm>
            <a:off x="2606040" y="2148840"/>
            <a:ext cx="1920240" cy="274320"/>
          </a:xfrm>
          <a:prstGeom prst="rect">
            <a:avLst/>
          </a:prstGeom>
          <a:noFill/>
          <a:ln/>
        </p:spPr>
        <p:txBody>
          <a:bodyPr wrap="square" lIns="0" tIns="0" rIns="0" bIns="0" rtlCol="0" anchor="ctr"/>
          <a:lstStyle/>
          <a:p>
            <a:pPr algn="ctr" indent="0" marL="0">
              <a:buNone/>
            </a:pPr>
            <a:r>
              <a:rPr lang="en-US" sz="1100" b="1" dirty="0">
                <a:solidFill>
                  <a:srgbClr val="3B82F6"/>
                </a:solidFill>
                <a:latin typeface="Arial" pitchFamily="34" charset="0"/>
                <a:ea typeface="Arial" pitchFamily="34" charset="-122"/>
                <a:cs typeface="Arial" pitchFamily="34" charset="-120"/>
              </a:rPr>
              <a:t>Fév 2025</a:t>
            </a:r>
            <a:endParaRPr lang="en-US" sz="1100" dirty="0"/>
          </a:p>
        </p:txBody>
      </p:sp>
      <p:sp>
        <p:nvSpPr>
          <p:cNvPr id="14" name="Text 11"/>
          <p:cNvSpPr/>
          <p:nvPr/>
        </p:nvSpPr>
        <p:spPr>
          <a:xfrm>
            <a:off x="2743200" y="2468880"/>
            <a:ext cx="1645920" cy="731520"/>
          </a:xfrm>
          <a:prstGeom prst="rect">
            <a:avLst/>
          </a:prstGeom>
          <a:noFill/>
          <a:ln/>
        </p:spPr>
        <p:txBody>
          <a:bodyPr wrap="square" lIns="0" tIns="0" rIns="0" bIns="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Agentforce 2.0</a:t>
            </a:r>
            <a:endParaRPr lang="en-US" sz="1000" dirty="0"/>
          </a:p>
          <a:p>
            <a:pPr algn="ctr" indent="0" marL="0">
              <a:buNone/>
            </a:pPr>
            <a:r>
              <a:rPr lang="en-US" sz="1000" dirty="0">
                <a:solidFill>
                  <a:srgbClr val="E5E7EB"/>
                </a:solidFill>
                <a:latin typeface="Calibri" pitchFamily="34" charset="0"/>
                <a:ea typeface="Calibri" pitchFamily="34" charset="-122"/>
                <a:cs typeface="Calibri" pitchFamily="34" charset="-120"/>
              </a:rPr>
              <a:t>Slack + Builder</a:t>
            </a:r>
            <a:endParaRPr lang="en-US" sz="1000" dirty="0"/>
          </a:p>
        </p:txBody>
      </p:sp>
      <p:sp>
        <p:nvSpPr>
          <p:cNvPr id="15" name="Shape 12"/>
          <p:cNvSpPr/>
          <p:nvPr/>
        </p:nvSpPr>
        <p:spPr>
          <a:xfrm>
            <a:off x="2880360" y="3246120"/>
            <a:ext cx="1371600" cy="27432"/>
          </a:xfrm>
          <a:prstGeom prst="rect">
            <a:avLst/>
          </a:prstGeom>
          <a:solidFill>
            <a:srgbClr val="374151"/>
          </a:solidFill>
          <a:ln/>
        </p:spPr>
      </p:sp>
      <p:sp>
        <p:nvSpPr>
          <p:cNvPr id="16" name="Text 13"/>
          <p:cNvSpPr/>
          <p:nvPr/>
        </p:nvSpPr>
        <p:spPr>
          <a:xfrm>
            <a:off x="2743200" y="3337560"/>
            <a:ext cx="1645920" cy="548640"/>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3 000 clients payants</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~2% d'adoption</a:t>
            </a:r>
            <a:endParaRPr lang="en-US" sz="900" dirty="0"/>
          </a:p>
        </p:txBody>
      </p:sp>
      <p:sp>
        <p:nvSpPr>
          <p:cNvPr id="17" name="Shape 14"/>
          <p:cNvSpPr/>
          <p:nvPr/>
        </p:nvSpPr>
        <p:spPr>
          <a:xfrm>
            <a:off x="4754880" y="2011680"/>
            <a:ext cx="1920240" cy="2103120"/>
          </a:xfrm>
          <a:prstGeom prst="rect">
            <a:avLst/>
          </a:prstGeom>
          <a:solidFill>
            <a:srgbClr val="1A1D27"/>
          </a:solidFill>
          <a:ln/>
        </p:spPr>
      </p:sp>
      <p:sp>
        <p:nvSpPr>
          <p:cNvPr id="18" name="Shape 15"/>
          <p:cNvSpPr/>
          <p:nvPr/>
        </p:nvSpPr>
        <p:spPr>
          <a:xfrm>
            <a:off x="4754880" y="2011680"/>
            <a:ext cx="1920240" cy="45720"/>
          </a:xfrm>
          <a:prstGeom prst="rect">
            <a:avLst/>
          </a:prstGeom>
          <a:solidFill>
            <a:srgbClr val="374151"/>
          </a:solidFill>
          <a:ln/>
        </p:spPr>
      </p:sp>
      <p:sp>
        <p:nvSpPr>
          <p:cNvPr id="19" name="Text 16"/>
          <p:cNvSpPr/>
          <p:nvPr/>
        </p:nvSpPr>
        <p:spPr>
          <a:xfrm>
            <a:off x="4754880" y="2148840"/>
            <a:ext cx="1920240" cy="274320"/>
          </a:xfrm>
          <a:prstGeom prst="rect">
            <a:avLst/>
          </a:prstGeom>
          <a:noFill/>
          <a:ln/>
        </p:spPr>
        <p:txBody>
          <a:bodyPr wrap="square" lIns="0" tIns="0" rIns="0" bIns="0" rtlCol="0" anchor="ctr"/>
          <a:lstStyle/>
          <a:p>
            <a:pPr algn="ctr" indent="0" marL="0">
              <a:buNone/>
            </a:pPr>
            <a:r>
              <a:rPr lang="en-US" sz="1100" b="1" dirty="0">
                <a:solidFill>
                  <a:srgbClr val="3B82F6"/>
                </a:solidFill>
                <a:latin typeface="Arial" pitchFamily="34" charset="0"/>
                <a:ea typeface="Arial" pitchFamily="34" charset="-122"/>
                <a:cs typeface="Arial" pitchFamily="34" charset="-120"/>
              </a:rPr>
              <a:t>Déc 2025</a:t>
            </a:r>
            <a:endParaRPr lang="en-US" sz="1100" dirty="0"/>
          </a:p>
        </p:txBody>
      </p:sp>
      <p:sp>
        <p:nvSpPr>
          <p:cNvPr id="20" name="Text 17"/>
          <p:cNvSpPr/>
          <p:nvPr/>
        </p:nvSpPr>
        <p:spPr>
          <a:xfrm>
            <a:off x="4892040" y="2468880"/>
            <a:ext cx="1645920" cy="731520"/>
          </a:xfrm>
          <a:prstGeom prst="rect">
            <a:avLst/>
          </a:prstGeom>
          <a:noFill/>
          <a:ln/>
        </p:spPr>
        <p:txBody>
          <a:bodyPr wrap="square" lIns="0" tIns="0" rIns="0" bIns="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18 500 clients</a:t>
            </a:r>
            <a:endParaRPr lang="en-US" sz="1000" dirty="0"/>
          </a:p>
          <a:p>
            <a:pPr algn="ctr" indent="0" marL="0">
              <a:buNone/>
            </a:pPr>
            <a:r>
              <a:rPr lang="en-US" sz="1000" dirty="0">
                <a:solidFill>
                  <a:srgbClr val="E5E7EB"/>
                </a:solidFill>
                <a:latin typeface="Calibri" pitchFamily="34" charset="0"/>
                <a:ea typeface="Calibri" pitchFamily="34" charset="-122"/>
                <a:cs typeface="Calibri" pitchFamily="34" charset="-120"/>
              </a:rPr>
              <a:t>9 500 payants</a:t>
            </a:r>
            <a:endParaRPr lang="en-US" sz="1000" dirty="0"/>
          </a:p>
        </p:txBody>
      </p:sp>
      <p:sp>
        <p:nvSpPr>
          <p:cNvPr id="21" name="Shape 18"/>
          <p:cNvSpPr/>
          <p:nvPr/>
        </p:nvSpPr>
        <p:spPr>
          <a:xfrm>
            <a:off x="5029200" y="3246120"/>
            <a:ext cx="1371600" cy="27432"/>
          </a:xfrm>
          <a:prstGeom prst="rect">
            <a:avLst/>
          </a:prstGeom>
          <a:solidFill>
            <a:srgbClr val="374151"/>
          </a:solidFill>
          <a:ln/>
        </p:spPr>
      </p:sp>
      <p:sp>
        <p:nvSpPr>
          <p:cNvPr id="22" name="Text 19"/>
          <p:cNvSpPr/>
          <p:nvPr/>
        </p:nvSpPr>
        <p:spPr>
          <a:xfrm>
            <a:off x="4892040" y="3337560"/>
            <a:ext cx="1645920" cy="548640"/>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+50% par trimestre</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~12% d'adoption</a:t>
            </a:r>
            <a:endParaRPr lang="en-US" sz="900" dirty="0"/>
          </a:p>
        </p:txBody>
      </p:sp>
      <p:sp>
        <p:nvSpPr>
          <p:cNvPr id="23" name="Shape 20"/>
          <p:cNvSpPr/>
          <p:nvPr/>
        </p:nvSpPr>
        <p:spPr>
          <a:xfrm>
            <a:off x="6903720" y="2011680"/>
            <a:ext cx="1920240" cy="2103120"/>
          </a:xfrm>
          <a:prstGeom prst="rect">
            <a:avLst/>
          </a:prstGeom>
          <a:solidFill>
            <a:srgbClr val="1A1D27"/>
          </a:solidFill>
          <a:ln/>
        </p:spPr>
      </p:sp>
      <p:sp>
        <p:nvSpPr>
          <p:cNvPr id="24" name="Shape 21"/>
          <p:cNvSpPr/>
          <p:nvPr/>
        </p:nvSpPr>
        <p:spPr>
          <a:xfrm>
            <a:off x="6903720" y="2011680"/>
            <a:ext cx="1920240" cy="45720"/>
          </a:xfrm>
          <a:prstGeom prst="rect">
            <a:avLst/>
          </a:prstGeom>
          <a:solidFill>
            <a:srgbClr val="FF9B26"/>
          </a:solidFill>
          <a:ln/>
        </p:spPr>
      </p:sp>
      <p:sp>
        <p:nvSpPr>
          <p:cNvPr id="25" name="Text 22"/>
          <p:cNvSpPr/>
          <p:nvPr/>
        </p:nvSpPr>
        <p:spPr>
          <a:xfrm>
            <a:off x="6903720" y="2148840"/>
            <a:ext cx="1920240" cy="274320"/>
          </a:xfrm>
          <a:prstGeom prst="rect">
            <a:avLst/>
          </a:prstGeom>
          <a:noFill/>
          <a:ln/>
        </p:spPr>
        <p:txBody>
          <a:bodyPr wrap="square" lIns="0" tIns="0" rIns="0" bIns="0" rtlCol="0" anchor="ctr"/>
          <a:lstStyle/>
          <a:p>
            <a:pPr algn="ctr" indent="0" marL="0">
              <a:buNone/>
            </a:pPr>
            <a:r>
              <a:rPr lang="en-US" sz="1100" b="1" dirty="0">
                <a:solidFill>
                  <a:srgbClr val="FF9B26"/>
                </a:solidFill>
                <a:latin typeface="Arial" pitchFamily="34" charset="0"/>
                <a:ea typeface="Arial" pitchFamily="34" charset="-122"/>
                <a:cs typeface="Arial" pitchFamily="34" charset="-120"/>
              </a:rPr>
              <a:t>Fév 2026</a:t>
            </a:r>
            <a:endParaRPr lang="en-US" sz="1100" dirty="0"/>
          </a:p>
        </p:txBody>
      </p:sp>
      <p:sp>
        <p:nvSpPr>
          <p:cNvPr id="26" name="Text 23"/>
          <p:cNvSpPr/>
          <p:nvPr/>
        </p:nvSpPr>
        <p:spPr>
          <a:xfrm>
            <a:off x="7040880" y="2468880"/>
            <a:ext cx="1645920" cy="731520"/>
          </a:xfrm>
          <a:prstGeom prst="rect">
            <a:avLst/>
          </a:prstGeom>
          <a:noFill/>
          <a:ln/>
        </p:spPr>
        <p:txBody>
          <a:bodyPr wrap="square" lIns="0" tIns="0" rIns="0" bIns="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29 000 clients</a:t>
            </a:r>
            <a:endParaRPr lang="en-US" sz="1000" dirty="0"/>
          </a:p>
          <a:p>
            <a:pPr algn="ctr" indent="0" marL="0">
              <a:buNone/>
            </a:pPr>
            <a:r>
              <a:rPr lang="en-US" sz="1000" dirty="0">
                <a:solidFill>
                  <a:srgbClr val="E5E7EB"/>
                </a:solidFill>
                <a:latin typeface="Calibri" pitchFamily="34" charset="0"/>
                <a:ea typeface="Calibri" pitchFamily="34" charset="-122"/>
                <a:cs typeface="Calibri" pitchFamily="34" charset="-120"/>
              </a:rPr>
              <a:t>800M$ d'ARR</a:t>
            </a:r>
            <a:endParaRPr lang="en-US" sz="1000" dirty="0"/>
          </a:p>
        </p:txBody>
      </p:sp>
      <p:sp>
        <p:nvSpPr>
          <p:cNvPr id="27" name="Shape 24"/>
          <p:cNvSpPr/>
          <p:nvPr/>
        </p:nvSpPr>
        <p:spPr>
          <a:xfrm>
            <a:off x="7178040" y="3246120"/>
            <a:ext cx="1371600" cy="27432"/>
          </a:xfrm>
          <a:prstGeom prst="rect">
            <a:avLst/>
          </a:prstGeom>
          <a:solidFill>
            <a:srgbClr val="374151"/>
          </a:solidFill>
          <a:ln/>
        </p:spPr>
      </p:sp>
      <p:sp>
        <p:nvSpPr>
          <p:cNvPr id="28" name="Text 25"/>
          <p:cNvSpPr/>
          <p:nvPr/>
        </p:nvSpPr>
        <p:spPr>
          <a:xfrm>
            <a:off x="7040880" y="3337560"/>
            <a:ext cx="1645920" cy="548640"/>
          </a:xfrm>
          <a:prstGeom prst="rect">
            <a:avLst/>
          </a:prstGeom>
          <a:noFill/>
          <a:ln/>
        </p:spPr>
        <p:txBody>
          <a:bodyPr wrap="square" lIns="0" tIns="0" rIns="0" bIns="0"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Croissance +330%/an</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Encore ~80% du marche</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n'a pas adopte</a:t>
            </a:r>
            <a:endParaRPr lang="en-US" sz="900" dirty="0"/>
          </a:p>
        </p:txBody>
      </p:sp>
      <p:sp>
        <p:nvSpPr>
          <p:cNvPr id="29" name="Shape 26"/>
          <p:cNvSpPr/>
          <p:nvPr/>
        </p:nvSpPr>
        <p:spPr>
          <a:xfrm>
            <a:off x="731520" y="4343400"/>
            <a:ext cx="7680960" cy="548640"/>
          </a:xfrm>
          <a:prstGeom prst="rect">
            <a:avLst/>
          </a:prstGeom>
          <a:solidFill>
            <a:srgbClr val="1A1D27"/>
          </a:solidFill>
          <a:ln/>
        </p:spPr>
      </p:sp>
      <p:sp>
        <p:nvSpPr>
          <p:cNvPr id="30" name="Shape 27"/>
          <p:cNvSpPr/>
          <p:nvPr/>
        </p:nvSpPr>
        <p:spPr>
          <a:xfrm>
            <a:off x="731520" y="4343400"/>
            <a:ext cx="54864" cy="548640"/>
          </a:xfrm>
          <a:prstGeom prst="rect">
            <a:avLst/>
          </a:prstGeom>
          <a:solidFill>
            <a:srgbClr val="FF9B26"/>
          </a:solidFill>
          <a:ln/>
        </p:spPr>
      </p:sp>
      <p:sp>
        <p:nvSpPr>
          <p:cNvPr id="31" name="Text 28"/>
          <p:cNvSpPr/>
          <p:nvPr/>
        </p:nvSpPr>
        <p:spPr>
          <a:xfrm>
            <a:off x="1005840" y="4343400"/>
            <a:ext cx="7132320" cy="548640"/>
          </a:xfrm>
          <a:prstGeom prst="rect">
            <a:avLst/>
          </a:prstGeom>
          <a:noFill/>
          <a:ln/>
        </p:spPr>
        <p:txBody>
          <a:bodyPr wrap="square" lIns="0" tIns="0" rIns="0" bIns="0" rtlCol="0" anchor="ctr"/>
          <a:lstStyle/>
          <a:p>
            <a:pPr indent="0" marL="0">
              <a:buNone/>
            </a:pPr>
            <a:r>
              <a:rPr lang="en-US" sz="1100" i="1" dirty="0">
                <a:solidFill>
                  <a:srgbClr val="E5E7EB"/>
                </a:solidFill>
                <a:latin typeface="Calibri" pitchFamily="34" charset="0"/>
                <a:ea typeface="Calibri" pitchFamily="34" charset="-122"/>
                <a:cs typeface="Calibri" pitchFamily="34" charset="-120"/>
              </a:rPr>
              <a:t>Salesforce appelle Agentforce son "produit à la croissance la plus rapide de son histoire" — 800M$ d'ARR, +330% en un an.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731520"/>
            <a:ext cx="7680960" cy="914400"/>
          </a:xfrm>
          <a:prstGeom prst="rect">
            <a:avLst/>
          </a:prstGeom>
          <a:noFill/>
          <a:ln/>
        </p:spPr>
        <p:txBody>
          <a:bodyPr wrap="square" lIns="0" tIns="0" rIns="0" bIns="0" rtlCol="0" anchor="ctr"/>
          <a:lstStyle/>
          <a:p>
            <a:pPr algn="ctr" indent="0" marL="0">
              <a:buNone/>
            </a:pPr>
            <a:r>
              <a:rPr lang="en-US" sz="6000" b="1" dirty="0">
                <a:solidFill>
                  <a:srgbClr val="FF9B26"/>
                </a:solidFill>
                <a:latin typeface="Georgia" pitchFamily="34" charset="0"/>
                <a:ea typeface="Georgia" pitchFamily="34" charset="-122"/>
                <a:cs typeface="Georgia" pitchFamily="34" charset="-120"/>
              </a:rPr>
              <a:t>800M$</a:t>
            </a:r>
            <a:endParaRPr lang="en-US" sz="6000" dirty="0"/>
          </a:p>
        </p:txBody>
      </p:sp>
      <p:sp>
        <p:nvSpPr>
          <p:cNvPr id="4" name="Text 1"/>
          <p:cNvSpPr/>
          <p:nvPr/>
        </p:nvSpPr>
        <p:spPr>
          <a:xfrm>
            <a:off x="1371600" y="1645920"/>
            <a:ext cx="6400800" cy="457200"/>
          </a:xfrm>
          <a:prstGeom prst="rect">
            <a:avLst/>
          </a:prstGeom>
          <a:noFill/>
          <a:ln/>
        </p:spPr>
        <p:txBody>
          <a:bodyPr wrap="square" lIns="0" tIns="0" rIns="0" bIns="0" rtlCol="0" anchor="ctr"/>
          <a:lstStyle/>
          <a:p>
            <a:pPr algn="ctr" indent="0" marL="0">
              <a:buNone/>
            </a:pPr>
            <a:r>
              <a:rPr lang="en-US" sz="1400" dirty="0">
                <a:solidFill>
                  <a:srgbClr val="E5E7EB"/>
                </a:solidFill>
                <a:latin typeface="Calibri" pitchFamily="34" charset="0"/>
                <a:ea typeface="Calibri" pitchFamily="34" charset="-122"/>
                <a:cs typeface="Calibri" pitchFamily="34" charset="-120"/>
              </a:rPr>
              <a:t>de revenus annuels, 29 000 clients, produit à la croissance la plus rapide de l'histoire de Salesforce.</a:t>
            </a:r>
            <a:endParaRPr lang="en-US" sz="1400" dirty="0"/>
          </a:p>
        </p:txBody>
      </p:sp>
      <p:sp>
        <p:nvSpPr>
          <p:cNvPr id="5" name="Shape 2"/>
          <p:cNvSpPr/>
          <p:nvPr/>
        </p:nvSpPr>
        <p:spPr>
          <a:xfrm>
            <a:off x="3200400" y="2377440"/>
            <a:ext cx="2743200" cy="45720"/>
          </a:xfrm>
          <a:prstGeom prst="rect">
            <a:avLst/>
          </a:prstGeom>
          <a:solidFill>
            <a:srgbClr val="374151"/>
          </a:solidFill>
          <a:ln/>
        </p:spPr>
      </p:sp>
      <p:sp>
        <p:nvSpPr>
          <p:cNvPr id="6" name="Text 3"/>
          <p:cNvSpPr/>
          <p:nvPr/>
        </p:nvSpPr>
        <p:spPr>
          <a:xfrm>
            <a:off x="731520" y="2651760"/>
            <a:ext cx="7680960" cy="548640"/>
          </a:xfrm>
          <a:prstGeom prst="rect">
            <a:avLst/>
          </a:prstGeom>
          <a:noFill/>
          <a:ln/>
        </p:spPr>
        <p:txBody>
          <a:bodyPr wrap="square" lIns="0" tIns="0" rIns="0" bIns="0" rtlCol="0" anchor="ctr"/>
          <a:lstStyle/>
          <a:p>
            <a:pPr algn="ctr" indent="0" marL="0">
              <a:buNone/>
            </a:pPr>
            <a:r>
              <a:rPr lang="en-US" sz="2800" b="1" dirty="0">
                <a:solidFill>
                  <a:srgbClr val="EF4444"/>
                </a:solidFill>
                <a:latin typeface="Georgia" pitchFamily="34" charset="0"/>
                <a:ea typeface="Georgia" pitchFamily="34" charset="-122"/>
                <a:cs typeface="Georgia" pitchFamily="34" charset="-120"/>
              </a:rPr>
              <a:t>Pourtant...</a:t>
            </a:r>
            <a:endParaRPr lang="en-US" sz="2800" dirty="0"/>
          </a:p>
        </p:txBody>
      </p:sp>
      <p:sp>
        <p:nvSpPr>
          <p:cNvPr id="7" name="Shape 4"/>
          <p:cNvSpPr/>
          <p:nvPr/>
        </p:nvSpPr>
        <p:spPr>
          <a:xfrm>
            <a:off x="1371600" y="3337560"/>
            <a:ext cx="6400800" cy="411480"/>
          </a:xfrm>
          <a:prstGeom prst="rect">
            <a:avLst/>
          </a:prstGeom>
          <a:solidFill>
            <a:srgbClr val="1A1D27"/>
          </a:solidFill>
          <a:ln/>
        </p:spPr>
      </p:sp>
      <p:sp>
        <p:nvSpPr>
          <p:cNvPr id="8" name="Shape 5"/>
          <p:cNvSpPr/>
          <p:nvPr/>
        </p:nvSpPr>
        <p:spPr>
          <a:xfrm>
            <a:off x="1371600" y="3337560"/>
            <a:ext cx="54864" cy="411480"/>
          </a:xfrm>
          <a:prstGeom prst="rect">
            <a:avLst/>
          </a:prstGeom>
          <a:solidFill>
            <a:srgbClr val="EF4444"/>
          </a:solidFill>
          <a:ln/>
        </p:spPr>
      </p:sp>
      <p:sp>
        <p:nvSpPr>
          <p:cNvPr id="9" name="Text 6"/>
          <p:cNvSpPr/>
          <p:nvPr/>
        </p:nvSpPr>
        <p:spPr>
          <a:xfrm>
            <a:off x="1645920" y="3337560"/>
            <a:ext cx="5943600" cy="41148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Salesforce a revu à la baisse ses prévisions de revenus FY2026</a:t>
            </a:r>
            <a:endParaRPr lang="en-US" sz="1100" dirty="0"/>
          </a:p>
        </p:txBody>
      </p:sp>
      <p:sp>
        <p:nvSpPr>
          <p:cNvPr id="10" name="Shape 7"/>
          <p:cNvSpPr/>
          <p:nvPr/>
        </p:nvSpPr>
        <p:spPr>
          <a:xfrm>
            <a:off x="1371600" y="3840480"/>
            <a:ext cx="6400800" cy="411480"/>
          </a:xfrm>
          <a:prstGeom prst="rect">
            <a:avLst/>
          </a:prstGeom>
          <a:solidFill>
            <a:srgbClr val="1A1D27"/>
          </a:solidFill>
          <a:ln/>
        </p:spPr>
      </p:sp>
      <p:sp>
        <p:nvSpPr>
          <p:cNvPr id="11" name="Shape 8"/>
          <p:cNvSpPr/>
          <p:nvPr/>
        </p:nvSpPr>
        <p:spPr>
          <a:xfrm>
            <a:off x="1371600" y="3840480"/>
            <a:ext cx="54864" cy="411480"/>
          </a:xfrm>
          <a:prstGeom prst="rect">
            <a:avLst/>
          </a:prstGeom>
          <a:solidFill>
            <a:srgbClr val="FF9B26"/>
          </a:solidFill>
          <a:ln/>
        </p:spPr>
      </p:sp>
      <p:sp>
        <p:nvSpPr>
          <p:cNvPr id="12" name="Text 9"/>
          <p:cNvSpPr/>
          <p:nvPr/>
        </p:nvSpPr>
        <p:spPr>
          <a:xfrm>
            <a:off x="1645920" y="3840480"/>
            <a:ext cx="5943600" cy="41148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D.A. Davidson a dégradé l'action à "Underperform" — Salesforce parie tout sur l'IA trop vite</a:t>
            </a:r>
            <a:endParaRPr lang="en-US" sz="1100" dirty="0"/>
          </a:p>
        </p:txBody>
      </p:sp>
      <p:sp>
        <p:nvSpPr>
          <p:cNvPr id="13" name="Shape 10"/>
          <p:cNvSpPr/>
          <p:nvPr/>
        </p:nvSpPr>
        <p:spPr>
          <a:xfrm>
            <a:off x="1371600" y="4343400"/>
            <a:ext cx="6400800" cy="411480"/>
          </a:xfrm>
          <a:prstGeom prst="rect">
            <a:avLst/>
          </a:prstGeom>
          <a:solidFill>
            <a:srgbClr val="1A1D27"/>
          </a:solidFill>
          <a:ln/>
        </p:spPr>
      </p:sp>
      <p:sp>
        <p:nvSpPr>
          <p:cNvPr id="14" name="Shape 11"/>
          <p:cNvSpPr/>
          <p:nvPr/>
        </p:nvSpPr>
        <p:spPr>
          <a:xfrm>
            <a:off x="1371600" y="4343400"/>
            <a:ext cx="54864" cy="411480"/>
          </a:xfrm>
          <a:prstGeom prst="rect">
            <a:avLst/>
          </a:prstGeom>
          <a:solidFill>
            <a:srgbClr val="E768E6"/>
          </a:solidFill>
          <a:ln/>
        </p:spPr>
      </p:sp>
      <p:sp>
        <p:nvSpPr>
          <p:cNvPr id="15" name="Text 12"/>
          <p:cNvSpPr/>
          <p:nvPr/>
        </p:nvSpPr>
        <p:spPr>
          <a:xfrm>
            <a:off x="1645920" y="4343400"/>
            <a:ext cx="5943600" cy="41148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~80% des 150 000 clients Salesforce n'ont toujours pas adopte Agentforce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Pourquoi les agents IA plantent en entreprise</a:t>
            </a:r>
            <a:endParaRPr lang="en-US" sz="2600" dirty="0"/>
          </a:p>
        </p:txBody>
      </p:sp>
      <p:sp>
        <p:nvSpPr>
          <p:cNvPr id="4" name="Shape 1"/>
          <p:cNvSpPr/>
          <p:nvPr/>
        </p:nvSpPr>
        <p:spPr>
          <a:xfrm>
            <a:off x="731520" y="960120"/>
            <a:ext cx="7680960" cy="1143000"/>
          </a:xfrm>
          <a:prstGeom prst="rect">
            <a:avLst/>
          </a:prstGeom>
          <a:solidFill>
            <a:srgbClr val="1A1D27"/>
          </a:solidFill>
          <a:ln/>
        </p:spPr>
      </p:sp>
      <p:pic>
        <p:nvPicPr>
          <p:cNvPr id="5" name="Image 1" descr="preencoded.png">    </p:cNvPr>
          <p:cNvPicPr>
            <a:picLocks noChangeAspect="1"/>
          </p:cNvPicPr>
          <p:nvPr/>
        </p:nvPicPr>
        <p:blipFill>
          <a:blip r:embed="rId2"/>
          <a:stretch>
            <a:fillRect/>
          </a:stretch>
        </p:blipFill>
        <p:spPr>
          <a:xfrm>
            <a:off x="1005840" y="1234440"/>
            <a:ext cx="411480" cy="411480"/>
          </a:xfrm>
          <a:prstGeom prst="rect">
            <a:avLst/>
          </a:prstGeom>
        </p:spPr>
      </p:pic>
      <p:sp>
        <p:nvSpPr>
          <p:cNvPr id="6" name="Text 2"/>
          <p:cNvSpPr/>
          <p:nvPr/>
        </p:nvSpPr>
        <p:spPr>
          <a:xfrm>
            <a:off x="1645920" y="105156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Les regles automatiques s'empilent</a:t>
            </a:r>
            <a:endParaRPr lang="en-US" sz="1500" dirty="0"/>
          </a:p>
        </p:txBody>
      </p:sp>
      <p:sp>
        <p:nvSpPr>
          <p:cNvPr id="7" name="Text 3"/>
          <p:cNvSpPr/>
          <p:nvPr/>
        </p:nvSpPr>
        <p:spPr>
          <a:xfrm>
            <a:off x="1645920" y="141732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Des annees de regles accumulees par differentes equipes. Quand l'agent declenche une action, toute cette cascade se lance dans une fenetre de 10 secondes. Une seule action suffit a depasser la limite.</a:t>
            </a:r>
            <a:endParaRPr lang="en-US" sz="1050" dirty="0"/>
          </a:p>
        </p:txBody>
      </p:sp>
      <p:sp>
        <p:nvSpPr>
          <p:cNvPr id="8" name="Shape 4"/>
          <p:cNvSpPr/>
          <p:nvPr/>
        </p:nvSpPr>
        <p:spPr>
          <a:xfrm>
            <a:off x="6217920" y="1280160"/>
            <a:ext cx="2011680" cy="365760"/>
          </a:xfrm>
          <a:prstGeom prst="rect">
            <a:avLst/>
          </a:prstGeom>
          <a:solidFill>
            <a:srgbClr val="1F2937"/>
          </a:solidFill>
          <a:ln/>
        </p:spPr>
      </p:sp>
      <p:sp>
        <p:nvSpPr>
          <p:cNvPr id="9" name="Text 5"/>
          <p:cNvSpPr/>
          <p:nvPr/>
        </p:nvSpPr>
        <p:spPr>
          <a:xfrm>
            <a:off x="6217920" y="1280160"/>
            <a:ext cx="2011680" cy="365760"/>
          </a:xfrm>
          <a:prstGeom prst="rect">
            <a:avLst/>
          </a:prstGeom>
          <a:noFill/>
          <a:ln/>
        </p:spPr>
        <p:txBody>
          <a:bodyPr wrap="square" lIns="0" tIns="0" rIns="0" bIns="0" rtlCol="0" anchor="ctr"/>
          <a:lstStyle/>
          <a:p>
            <a:pPr algn="ctr" indent="0" marL="0">
              <a:buNone/>
            </a:pPr>
            <a:r>
              <a:rPr lang="en-US" sz="950" b="1" dirty="0">
                <a:solidFill>
                  <a:srgbClr val="FF9B26"/>
                </a:solidFill>
                <a:latin typeface="Calibri" pitchFamily="34" charset="0"/>
                <a:ea typeface="Calibri" pitchFamily="34" charset="-122"/>
                <a:cs typeface="Calibri" pitchFamily="34" charset="-120"/>
              </a:rPr>
              <a:t>Limite de 10s par action</a:t>
            </a:r>
            <a:endParaRPr lang="en-US" sz="950" dirty="0"/>
          </a:p>
        </p:txBody>
      </p:sp>
      <p:sp>
        <p:nvSpPr>
          <p:cNvPr id="10" name="Shape 6"/>
          <p:cNvSpPr/>
          <p:nvPr/>
        </p:nvSpPr>
        <p:spPr>
          <a:xfrm>
            <a:off x="731520" y="2286000"/>
            <a:ext cx="7680960" cy="1143000"/>
          </a:xfrm>
          <a:prstGeom prst="rect">
            <a:avLst/>
          </a:prstGeom>
          <a:solidFill>
            <a:srgbClr val="1A1D27"/>
          </a:solidFill>
          <a:ln/>
        </p:spPr>
      </p:sp>
      <p:pic>
        <p:nvPicPr>
          <p:cNvPr id="11" name="Image 2" descr="preencoded.png">    </p:cNvPr>
          <p:cNvPicPr>
            <a:picLocks noChangeAspect="1"/>
          </p:cNvPicPr>
          <p:nvPr/>
        </p:nvPicPr>
        <p:blipFill>
          <a:blip r:embed="rId3"/>
          <a:stretch>
            <a:fillRect/>
          </a:stretch>
        </p:blipFill>
        <p:spPr>
          <a:xfrm>
            <a:off x="1005840" y="2560320"/>
            <a:ext cx="411480" cy="411480"/>
          </a:xfrm>
          <a:prstGeom prst="rect">
            <a:avLst/>
          </a:prstGeom>
        </p:spPr>
      </p:pic>
      <p:sp>
        <p:nvSpPr>
          <p:cNvPr id="12" name="Text 7"/>
          <p:cNvSpPr/>
          <p:nvPr/>
        </p:nvSpPr>
        <p:spPr>
          <a:xfrm>
            <a:off x="1645920" y="237744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L'agent accede a trop de donnees</a:t>
            </a:r>
            <a:endParaRPr lang="en-US" sz="1500" dirty="0"/>
          </a:p>
        </p:txBody>
      </p:sp>
      <p:sp>
        <p:nvSpPr>
          <p:cNvPr id="13" name="Text 8"/>
          <p:cNvSpPr/>
          <p:nvPr/>
        </p:nvSpPr>
        <p:spPr>
          <a:xfrm>
            <a:off x="1645920" y="274320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Le code qui execute les actions de l'agent ignore les regles de securite par defaut. La protection IA de Salesforce ne couvre que le raisonnement, pas l'execution. Les integrations externes ecrivent aussi sur les memes donnees.</a:t>
            </a:r>
            <a:endParaRPr lang="en-US" sz="1050" dirty="0"/>
          </a:p>
        </p:txBody>
      </p:sp>
      <p:sp>
        <p:nvSpPr>
          <p:cNvPr id="14" name="Shape 9"/>
          <p:cNvSpPr/>
          <p:nvPr/>
        </p:nvSpPr>
        <p:spPr>
          <a:xfrm>
            <a:off x="6217920" y="2606040"/>
            <a:ext cx="2011680" cy="365760"/>
          </a:xfrm>
          <a:prstGeom prst="rect">
            <a:avLst/>
          </a:prstGeom>
          <a:solidFill>
            <a:srgbClr val="1F2937"/>
          </a:solidFill>
          <a:ln/>
        </p:spPr>
      </p:sp>
      <p:sp>
        <p:nvSpPr>
          <p:cNvPr id="15" name="Text 10"/>
          <p:cNvSpPr/>
          <p:nvPr/>
        </p:nvSpPr>
        <p:spPr>
          <a:xfrm>
            <a:off x="6217920" y="2606040"/>
            <a:ext cx="2011680" cy="365760"/>
          </a:xfrm>
          <a:prstGeom prst="rect">
            <a:avLst/>
          </a:prstGeom>
          <a:noFill/>
          <a:ln/>
        </p:spPr>
        <p:txBody>
          <a:bodyPr wrap="square" lIns="0" tIns="0" rIns="0" bIns="0" rtlCol="0" anchor="ctr"/>
          <a:lstStyle/>
          <a:p>
            <a:pPr algn="ctr" indent="0" marL="0">
              <a:buNone/>
            </a:pPr>
            <a:r>
              <a:rPr lang="en-US" sz="950" b="1" dirty="0">
                <a:solidFill>
                  <a:srgbClr val="E768E6"/>
                </a:solidFill>
                <a:latin typeface="Calibri" pitchFamily="34" charset="0"/>
                <a:ea typeface="Calibri" pitchFamily="34" charset="-122"/>
                <a:cs typeface="Calibri" pitchFamily="34" charset="-120"/>
              </a:rPr>
              <a:t>La securite IA a un angle mort</a:t>
            </a:r>
            <a:endParaRPr lang="en-US" sz="950" dirty="0"/>
          </a:p>
        </p:txBody>
      </p:sp>
      <p:sp>
        <p:nvSpPr>
          <p:cNvPr id="16" name="Shape 11"/>
          <p:cNvSpPr/>
          <p:nvPr/>
        </p:nvSpPr>
        <p:spPr>
          <a:xfrm>
            <a:off x="731520" y="3611880"/>
            <a:ext cx="7680960" cy="1143000"/>
          </a:xfrm>
          <a:prstGeom prst="rect">
            <a:avLst/>
          </a:prstGeom>
          <a:solidFill>
            <a:srgbClr val="1A1D27"/>
          </a:solidFill>
          <a:ln/>
        </p:spPr>
      </p:sp>
      <p:pic>
        <p:nvPicPr>
          <p:cNvPr id="17" name="Image 3" descr="preencoded.png">    </p:cNvPr>
          <p:cNvPicPr>
            <a:picLocks noChangeAspect="1"/>
          </p:cNvPicPr>
          <p:nvPr/>
        </p:nvPicPr>
        <p:blipFill>
          <a:blip r:embed="rId4"/>
          <a:stretch>
            <a:fillRect/>
          </a:stretch>
        </p:blipFill>
        <p:spPr>
          <a:xfrm>
            <a:off x="1005840" y="3886200"/>
            <a:ext cx="411480" cy="411480"/>
          </a:xfrm>
          <a:prstGeom prst="rect">
            <a:avLst/>
          </a:prstGeom>
        </p:spPr>
      </p:pic>
      <p:sp>
        <p:nvSpPr>
          <p:cNvPr id="18" name="Text 12"/>
          <p:cNvSpPr/>
          <p:nvPr/>
        </p:nvSpPr>
        <p:spPr>
          <a:xfrm>
            <a:off x="1645920" y="370332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L'IA ne comprend pas vos donnees</a:t>
            </a:r>
            <a:endParaRPr lang="en-US" sz="1500" dirty="0"/>
          </a:p>
        </p:txBody>
      </p:sp>
      <p:sp>
        <p:nvSpPr>
          <p:cNvPr id="19" name="Text 13"/>
          <p:cNvSpPr/>
          <p:nvPr/>
        </p:nvSpPr>
        <p:spPr>
          <a:xfrm>
            <a:off x="1645920" y="406908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L'agent lit les noms et descriptions de vos donnees pour raisonner. Quand 72% n'ont pas de description et que 3 champs portent le meme nom, l'agent devine au lieu de comprendre.</a:t>
            </a:r>
            <a:endParaRPr lang="en-US" sz="1050" dirty="0"/>
          </a:p>
        </p:txBody>
      </p:sp>
      <p:sp>
        <p:nvSpPr>
          <p:cNvPr id="20" name="Shape 14"/>
          <p:cNvSpPr/>
          <p:nvPr/>
        </p:nvSpPr>
        <p:spPr>
          <a:xfrm>
            <a:off x="6217920" y="3931920"/>
            <a:ext cx="2011680" cy="365760"/>
          </a:xfrm>
          <a:prstGeom prst="rect">
            <a:avLst/>
          </a:prstGeom>
          <a:solidFill>
            <a:srgbClr val="1F2937"/>
          </a:solidFill>
          <a:ln/>
        </p:spPr>
      </p:sp>
      <p:sp>
        <p:nvSpPr>
          <p:cNvPr id="21" name="Text 15"/>
          <p:cNvSpPr/>
          <p:nvPr/>
        </p:nvSpPr>
        <p:spPr>
          <a:xfrm>
            <a:off x="6217920" y="3931920"/>
            <a:ext cx="2011680" cy="365760"/>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89% de resultats IA inexacts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Ce que ca coute quand ca plante</a:t>
            </a:r>
            <a:endParaRPr lang="en-US" sz="2600" dirty="0"/>
          </a:p>
        </p:txBody>
      </p:sp>
      <p:sp>
        <p:nvSpPr>
          <p:cNvPr id="4" name="Text 1"/>
          <p:cNvSpPr/>
          <p:nvPr/>
        </p:nvSpPr>
        <p:spPr>
          <a:xfrm>
            <a:off x="731520" y="822960"/>
            <a:ext cx="768096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Les agents IA ont besoin d'une infrastructure propre. Quand elle ne l'est pas, les consequences sont immediates et couteuses.</a:t>
            </a:r>
            <a:endParaRPr lang="en-US" sz="1200" dirty="0"/>
          </a:p>
        </p:txBody>
      </p:sp>
      <p:sp>
        <p:nvSpPr>
          <p:cNvPr id="5" name="Shape 2"/>
          <p:cNvSpPr/>
          <p:nvPr/>
        </p:nvSpPr>
        <p:spPr>
          <a:xfrm>
            <a:off x="731520" y="1371600"/>
            <a:ext cx="7680960" cy="960120"/>
          </a:xfrm>
          <a:prstGeom prst="rect">
            <a:avLst/>
          </a:prstGeom>
          <a:solidFill>
            <a:srgbClr val="1A1D27"/>
          </a:solidFill>
          <a:ln/>
        </p:spPr>
      </p:sp>
      <p:sp>
        <p:nvSpPr>
          <p:cNvPr id="6" name="Shape 3"/>
          <p:cNvSpPr/>
          <p:nvPr/>
        </p:nvSpPr>
        <p:spPr>
          <a:xfrm>
            <a:off x="731520" y="1371600"/>
            <a:ext cx="54864" cy="960120"/>
          </a:xfrm>
          <a:prstGeom prst="rect">
            <a:avLst/>
          </a:prstGeom>
          <a:solidFill>
            <a:srgbClr val="EF4444"/>
          </a:solidFill>
          <a:ln/>
        </p:spPr>
      </p:sp>
      <p:sp>
        <p:nvSpPr>
          <p:cNvPr id="7" name="Text 4"/>
          <p:cNvSpPr/>
          <p:nvPr/>
        </p:nvSpPr>
        <p:spPr>
          <a:xfrm>
            <a:off x="1005840" y="1417320"/>
            <a:ext cx="41148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L'agent plante en plein appel client</a:t>
            </a:r>
            <a:endParaRPr lang="en-US" sz="1300" dirty="0"/>
          </a:p>
        </p:txBody>
      </p:sp>
      <p:sp>
        <p:nvSpPr>
          <p:cNvPr id="8" name="Text 5"/>
          <p:cNvSpPr/>
          <p:nvPr/>
        </p:nvSpPr>
        <p:spPr>
          <a:xfrm>
            <a:off x="1005840" y="1719072"/>
            <a:ext cx="4389120" cy="548640"/>
          </a:xfrm>
          <a:prstGeom prst="rect">
            <a:avLst/>
          </a:prstGeom>
          <a:noFill/>
          <a:ln/>
        </p:spPr>
        <p:txBody>
          <a:bodyPr wrap="square" lIns="0" tIns="0" rIns="0" bIns="0" rtlCol="0" anchor="ctr"/>
          <a:lstStyle/>
          <a:p>
            <a:pPr indent="0" marL="0">
              <a:buNone/>
            </a:pPr>
            <a:r>
              <a:rPr lang="en-US" sz="950" dirty="0">
                <a:solidFill>
                  <a:srgbClr val="9CA3AF"/>
                </a:solidFill>
                <a:latin typeface="Calibri" pitchFamily="34" charset="0"/>
                <a:ea typeface="Calibri" pitchFamily="34" charset="-122"/>
                <a:cs typeface="Calibri" pitchFamily="34" charset="-120"/>
              </a:rPr>
              <a:t>Chaque action de l'agent declenche une cascade de regles automatiques accumulees depuis des annees. Salesforce impose une limite de temps de 10 secondes. Si la cascade depasse cette limite, tout est annule. L'agent se coupe. Pas de seconde chance automatique.</a:t>
            </a:r>
            <a:endParaRPr lang="en-US" sz="950" dirty="0"/>
          </a:p>
        </p:txBody>
      </p:sp>
      <p:sp>
        <p:nvSpPr>
          <p:cNvPr id="9" name="Shape 6"/>
          <p:cNvSpPr/>
          <p:nvPr/>
        </p:nvSpPr>
        <p:spPr>
          <a:xfrm>
            <a:off x="5760720" y="1508760"/>
            <a:ext cx="2468880" cy="640080"/>
          </a:xfrm>
          <a:prstGeom prst="rect">
            <a:avLst/>
          </a:prstGeom>
          <a:solidFill>
            <a:srgbClr val="1F2937"/>
          </a:solidFill>
          <a:ln/>
        </p:spPr>
      </p:sp>
      <p:sp>
        <p:nvSpPr>
          <p:cNvPr id="10" name="Text 7"/>
          <p:cNvSpPr/>
          <p:nvPr/>
        </p:nvSpPr>
        <p:spPr>
          <a:xfrm>
            <a:off x="5760720" y="1508760"/>
            <a:ext cx="2468880" cy="640080"/>
          </a:xfrm>
          <a:prstGeom prst="rect">
            <a:avLst/>
          </a:prstGeom>
          <a:noFill/>
          <a:ln/>
        </p:spPr>
        <p:txBody>
          <a:bodyPr wrap="square" lIns="0" tIns="0" rIns="0" bIns="0" rtlCol="0" anchor="ctr"/>
          <a:lstStyle/>
          <a:p>
            <a:pPr algn="ctr" indent="0" marL="0">
              <a:buNone/>
            </a:pPr>
            <a:r>
              <a:rPr lang="en-US" sz="900" b="1" dirty="0">
                <a:solidFill>
                  <a:srgbClr val="EF4444"/>
                </a:solidFill>
                <a:latin typeface="Calibri" pitchFamily="34" charset="0"/>
                <a:ea typeface="Calibri" pitchFamily="34" charset="-122"/>
                <a:cs typeface="Calibri" pitchFamily="34" charset="-120"/>
              </a:rPr>
              <a:t>Action annulee</a:t>
            </a:r>
            <a:endParaRPr lang="en-US" sz="900" dirty="0"/>
          </a:p>
          <a:p>
            <a:pPr algn="ctr" indent="0" marL="0">
              <a:buNone/>
            </a:pPr>
            <a:r>
              <a:rPr lang="en-US" sz="900" b="1" dirty="0">
                <a:solidFill>
                  <a:srgbClr val="EF4444"/>
                </a:solidFill>
                <a:latin typeface="Calibri" pitchFamily="34" charset="0"/>
                <a:ea typeface="Calibri" pitchFamily="34" charset="-122"/>
                <a:cs typeface="Calibri" pitchFamily="34" charset="-120"/>
              </a:rPr>
              <a:t>Conversation client perdue</a:t>
            </a:r>
            <a:endParaRPr lang="en-US" sz="900" dirty="0"/>
          </a:p>
        </p:txBody>
      </p:sp>
      <p:sp>
        <p:nvSpPr>
          <p:cNvPr id="11" name="Shape 8"/>
          <p:cNvSpPr/>
          <p:nvPr/>
        </p:nvSpPr>
        <p:spPr>
          <a:xfrm>
            <a:off x="731520" y="2468880"/>
            <a:ext cx="7680960" cy="960120"/>
          </a:xfrm>
          <a:prstGeom prst="rect">
            <a:avLst/>
          </a:prstGeom>
          <a:solidFill>
            <a:srgbClr val="1A1D27"/>
          </a:solidFill>
          <a:ln/>
        </p:spPr>
      </p:sp>
      <p:sp>
        <p:nvSpPr>
          <p:cNvPr id="12" name="Shape 9"/>
          <p:cNvSpPr/>
          <p:nvPr/>
        </p:nvSpPr>
        <p:spPr>
          <a:xfrm>
            <a:off x="731520" y="2468880"/>
            <a:ext cx="54864" cy="960120"/>
          </a:xfrm>
          <a:prstGeom prst="rect">
            <a:avLst/>
          </a:prstGeom>
          <a:solidFill>
            <a:srgbClr val="E768E6"/>
          </a:solidFill>
          <a:ln/>
        </p:spPr>
      </p:sp>
      <p:sp>
        <p:nvSpPr>
          <p:cNvPr id="13" name="Text 10"/>
          <p:cNvSpPr/>
          <p:nvPr/>
        </p:nvSpPr>
        <p:spPr>
          <a:xfrm>
            <a:off x="1005840" y="2514600"/>
            <a:ext cx="41148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L'agent voit des donnees qu'il ne devrait pas</a:t>
            </a:r>
            <a:endParaRPr lang="en-US" sz="1300" dirty="0"/>
          </a:p>
        </p:txBody>
      </p:sp>
      <p:sp>
        <p:nvSpPr>
          <p:cNvPr id="14" name="Text 11"/>
          <p:cNvSpPr/>
          <p:nvPr/>
        </p:nvSpPr>
        <p:spPr>
          <a:xfrm>
            <a:off x="1005840" y="2816352"/>
            <a:ext cx="4389120" cy="548640"/>
          </a:xfrm>
          <a:prstGeom prst="rect">
            <a:avLst/>
          </a:prstGeom>
          <a:noFill/>
          <a:ln/>
        </p:spPr>
        <p:txBody>
          <a:bodyPr wrap="square" lIns="0" tIns="0" rIns="0" bIns="0" rtlCol="0" anchor="ctr"/>
          <a:lstStyle/>
          <a:p>
            <a:pPr indent="0" marL="0">
              <a:buNone/>
            </a:pPr>
            <a:r>
              <a:rPr lang="en-US" sz="950" dirty="0">
                <a:solidFill>
                  <a:srgbClr val="9CA3AF"/>
                </a:solidFill>
                <a:latin typeface="Calibri" pitchFamily="34" charset="0"/>
                <a:ea typeface="Calibri" pitchFamily="34" charset="-122"/>
                <a:cs typeface="Calibri" pitchFamily="34" charset="-120"/>
              </a:rPr>
              <a:t>Par defaut, le code qui execute les actions de l'agent ignore les regles de securite sur les donnees. L'admin, pour que ca marche vite, donne souvent des droits trop larges. La couche de securite IA de Salesforce protege l'agent quand il reflechit, mais pas quand il agit.</a:t>
            </a:r>
            <a:endParaRPr lang="en-US" sz="950" dirty="0"/>
          </a:p>
        </p:txBody>
      </p:sp>
      <p:sp>
        <p:nvSpPr>
          <p:cNvPr id="15" name="Shape 12"/>
          <p:cNvSpPr/>
          <p:nvPr/>
        </p:nvSpPr>
        <p:spPr>
          <a:xfrm>
            <a:off x="5760720" y="2606040"/>
            <a:ext cx="2468880" cy="640080"/>
          </a:xfrm>
          <a:prstGeom prst="rect">
            <a:avLst/>
          </a:prstGeom>
          <a:solidFill>
            <a:srgbClr val="1F2937"/>
          </a:solidFill>
          <a:ln/>
        </p:spPr>
      </p:sp>
      <p:sp>
        <p:nvSpPr>
          <p:cNvPr id="16" name="Text 13"/>
          <p:cNvSpPr/>
          <p:nvPr/>
        </p:nvSpPr>
        <p:spPr>
          <a:xfrm>
            <a:off x="5760720" y="2606040"/>
            <a:ext cx="2468880" cy="640080"/>
          </a:xfrm>
          <a:prstGeom prst="rect">
            <a:avLst/>
          </a:prstGeom>
          <a:noFill/>
          <a:ln/>
        </p:spPr>
        <p:txBody>
          <a:bodyPr wrap="square" lIns="0" tIns="0" rIns="0" bIns="0" rtlCol="0" anchor="ctr"/>
          <a:lstStyle/>
          <a:p>
            <a:pPr algn="ctr" indent="0" marL="0">
              <a:buNone/>
            </a:pPr>
            <a:r>
              <a:rPr lang="en-US" sz="900" b="1" dirty="0">
                <a:solidFill>
                  <a:srgbClr val="E768E6"/>
                </a:solidFill>
                <a:latin typeface="Calibri" pitchFamily="34" charset="0"/>
                <a:ea typeface="Calibri" pitchFamily="34" charset="-122"/>
                <a:cs typeface="Calibri" pitchFamily="34" charset="-120"/>
              </a:rPr>
              <a:t>Le code ignore la securite</a:t>
            </a:r>
            <a:endParaRPr lang="en-US" sz="900" dirty="0"/>
          </a:p>
          <a:p>
            <a:pPr algn="ctr" indent="0" marL="0">
              <a:buNone/>
            </a:pPr>
            <a:r>
              <a:rPr lang="en-US" sz="900" b="1" dirty="0">
                <a:solidFill>
                  <a:srgbClr val="E768E6"/>
                </a:solidFill>
                <a:latin typeface="Calibri" pitchFamily="34" charset="0"/>
                <a:ea typeface="Calibri" pitchFamily="34" charset="-122"/>
                <a:cs typeface="Calibri" pitchFamily="34" charset="-120"/>
              </a:rPr>
              <a:t>La protection IA ne couvre pas les actions</a:t>
            </a:r>
            <a:endParaRPr lang="en-US" sz="900" dirty="0"/>
          </a:p>
        </p:txBody>
      </p:sp>
      <p:sp>
        <p:nvSpPr>
          <p:cNvPr id="17" name="Shape 14"/>
          <p:cNvSpPr/>
          <p:nvPr/>
        </p:nvSpPr>
        <p:spPr>
          <a:xfrm>
            <a:off x="731520" y="3566160"/>
            <a:ext cx="7680960" cy="960120"/>
          </a:xfrm>
          <a:prstGeom prst="rect">
            <a:avLst/>
          </a:prstGeom>
          <a:solidFill>
            <a:srgbClr val="1A1D27"/>
          </a:solidFill>
          <a:ln/>
        </p:spPr>
      </p:sp>
      <p:sp>
        <p:nvSpPr>
          <p:cNvPr id="18" name="Shape 15"/>
          <p:cNvSpPr/>
          <p:nvPr/>
        </p:nvSpPr>
        <p:spPr>
          <a:xfrm>
            <a:off x="731520" y="3566160"/>
            <a:ext cx="54864" cy="960120"/>
          </a:xfrm>
          <a:prstGeom prst="rect">
            <a:avLst/>
          </a:prstGeom>
          <a:solidFill>
            <a:srgbClr val="FF9B26"/>
          </a:solidFill>
          <a:ln/>
        </p:spPr>
      </p:sp>
      <p:sp>
        <p:nvSpPr>
          <p:cNvPr id="19" name="Text 16"/>
          <p:cNvSpPr/>
          <p:nvPr/>
        </p:nvSpPr>
        <p:spPr>
          <a:xfrm>
            <a:off x="1005840" y="3611880"/>
            <a:ext cx="41148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L'agent ne comprend pas vos donnees</a:t>
            </a:r>
            <a:endParaRPr lang="en-US" sz="1300" dirty="0"/>
          </a:p>
        </p:txBody>
      </p:sp>
      <p:sp>
        <p:nvSpPr>
          <p:cNvPr id="20" name="Text 17"/>
          <p:cNvSpPr/>
          <p:nvPr/>
        </p:nvSpPr>
        <p:spPr>
          <a:xfrm>
            <a:off x="1005840" y="3913632"/>
            <a:ext cx="4389120" cy="548640"/>
          </a:xfrm>
          <a:prstGeom prst="rect">
            <a:avLst/>
          </a:prstGeom>
          <a:noFill/>
          <a:ln/>
        </p:spPr>
        <p:txBody>
          <a:bodyPr wrap="square" lIns="0" tIns="0" rIns="0" bIns="0" rtlCol="0" anchor="ctr"/>
          <a:lstStyle/>
          <a:p>
            <a:pPr indent="0" marL="0">
              <a:buNone/>
            </a:pPr>
            <a:r>
              <a:rPr lang="en-US" sz="950" dirty="0">
                <a:solidFill>
                  <a:srgbClr val="9CA3AF"/>
                </a:solidFill>
                <a:latin typeface="Calibri" pitchFamily="34" charset="0"/>
                <a:ea typeface="Calibri" pitchFamily="34" charset="-122"/>
                <a:cs typeface="Calibri" pitchFamily="34" charset="-120"/>
              </a:rPr>
              <a:t>L'IA lit les noms et descriptions de vos donnees pour construire ses requetes. Quand 72% des champs n'ont pas de description et que 3 champs s'appellent 'Status', l'agent choisit le mauvais et renvoie des informations erronees au client.</a:t>
            </a:r>
            <a:endParaRPr lang="en-US" sz="950" dirty="0"/>
          </a:p>
        </p:txBody>
      </p:sp>
      <p:sp>
        <p:nvSpPr>
          <p:cNvPr id="21" name="Shape 18"/>
          <p:cNvSpPr/>
          <p:nvPr/>
        </p:nvSpPr>
        <p:spPr>
          <a:xfrm>
            <a:off x="5760720" y="3703320"/>
            <a:ext cx="2468880" cy="640080"/>
          </a:xfrm>
          <a:prstGeom prst="rect">
            <a:avLst/>
          </a:prstGeom>
          <a:solidFill>
            <a:srgbClr val="1F2937"/>
          </a:solidFill>
          <a:ln/>
        </p:spPr>
      </p:sp>
      <p:sp>
        <p:nvSpPr>
          <p:cNvPr id="22" name="Text 19"/>
          <p:cNvSpPr/>
          <p:nvPr/>
        </p:nvSpPr>
        <p:spPr>
          <a:xfrm>
            <a:off x="5760720" y="3703320"/>
            <a:ext cx="2468880" cy="640080"/>
          </a:xfrm>
          <a:prstGeom prst="rect">
            <a:avLst/>
          </a:prstGeom>
          <a:noFill/>
          <a:ln/>
        </p:spPr>
        <p:txBody>
          <a:bodyPr wrap="square" lIns="0" tIns="0" rIns="0" bIns="0" rtlCol="0" anchor="ctr"/>
          <a:lstStyle/>
          <a:p>
            <a:pPr algn="ctr" indent="0" marL="0">
              <a:buNone/>
            </a:pPr>
            <a:r>
              <a:rPr lang="en-US" sz="900" b="1" dirty="0">
                <a:solidFill>
                  <a:srgbClr val="FF9B26"/>
                </a:solidFill>
                <a:latin typeface="Calibri" pitchFamily="34" charset="0"/>
                <a:ea typeface="Calibri" pitchFamily="34" charset="-122"/>
                <a:cs typeface="Calibri" pitchFamily="34" charset="-120"/>
              </a:rPr>
              <a:t>L'IA devine au lieu de raisonner</a:t>
            </a:r>
            <a:endParaRPr lang="en-US" sz="900" dirty="0"/>
          </a:p>
          <a:p>
            <a:pPr algn="ctr" indent="0" marL="0">
              <a:buNone/>
            </a:pPr>
            <a:r>
              <a:rPr lang="en-US" sz="900" b="1" dirty="0">
                <a:solidFill>
                  <a:srgbClr val="FF9B26"/>
                </a:solidFill>
                <a:latin typeface="Calibri" pitchFamily="34" charset="0"/>
                <a:ea typeface="Calibri" pitchFamily="34" charset="-122"/>
                <a:cs typeface="Calibri" pitchFamily="34" charset="-120"/>
              </a:rPr>
              <a:t>Le client recoit de mauvaises infos</a:t>
            </a:r>
            <a:endParaRPr lang="en-US" sz="900" dirty="0"/>
          </a:p>
        </p:txBody>
      </p:sp>
      <p:sp>
        <p:nvSpPr>
          <p:cNvPr id="23" name="Shape 20"/>
          <p:cNvSpPr/>
          <p:nvPr/>
        </p:nvSpPr>
        <p:spPr>
          <a:xfrm>
            <a:off x="731520" y="4434840"/>
            <a:ext cx="2377440" cy="502920"/>
          </a:xfrm>
          <a:prstGeom prst="rect">
            <a:avLst/>
          </a:prstGeom>
          <a:solidFill>
            <a:srgbClr val="1A1D27"/>
          </a:solidFill>
          <a:ln/>
        </p:spPr>
      </p:sp>
      <p:sp>
        <p:nvSpPr>
          <p:cNvPr id="24" name="Text 21"/>
          <p:cNvSpPr/>
          <p:nvPr/>
        </p:nvSpPr>
        <p:spPr>
          <a:xfrm>
            <a:off x="822960" y="4434840"/>
            <a:ext cx="2194560" cy="50292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89%</a:t>
            </a:r>
            <a:pPr indent="0" marL="0">
              <a:buNone/>
            </a:pPr>
            <a:r>
              <a:rPr lang="en-US" sz="1000" dirty="0">
                <a:solidFill>
                  <a:srgbClr val="9CA3AF"/>
                </a:solidFill>
                <a:latin typeface="Calibri" pitchFamily="34" charset="0"/>
                <a:ea typeface="Calibri" pitchFamily="34" charset="-122"/>
                <a:cs typeface="Calibri" pitchFamily="34" charset="-120"/>
              </a:rPr>
              <a:t> resultats IA inexacts en prod</a:t>
            </a:r>
            <a:endParaRPr lang="en-US" sz="1600" dirty="0"/>
          </a:p>
        </p:txBody>
      </p:sp>
      <p:sp>
        <p:nvSpPr>
          <p:cNvPr id="25" name="Shape 22"/>
          <p:cNvSpPr/>
          <p:nvPr/>
        </p:nvSpPr>
        <p:spPr>
          <a:xfrm>
            <a:off x="3291840" y="4434840"/>
            <a:ext cx="2377440" cy="502920"/>
          </a:xfrm>
          <a:prstGeom prst="rect">
            <a:avLst/>
          </a:prstGeom>
          <a:solidFill>
            <a:srgbClr val="1A1D27"/>
          </a:solidFill>
          <a:ln/>
        </p:spPr>
      </p:sp>
      <p:sp>
        <p:nvSpPr>
          <p:cNvPr id="26" name="Text 23"/>
          <p:cNvSpPr/>
          <p:nvPr/>
        </p:nvSpPr>
        <p:spPr>
          <a:xfrm>
            <a:off x="3383280" y="4434840"/>
            <a:ext cx="2194560" cy="502920"/>
          </a:xfrm>
          <a:prstGeom prst="rect">
            <a:avLst/>
          </a:prstGeom>
          <a:noFill/>
          <a:ln/>
        </p:spPr>
        <p:txBody>
          <a:bodyPr wrap="square" lIns="0" tIns="0" rIns="0" bIns="0" rtlCol="0" anchor="ctr"/>
          <a:lstStyle/>
          <a:p>
            <a:pPr indent="0" marL="0">
              <a:buNone/>
            </a:pPr>
            <a:r>
              <a:rPr lang="en-US" sz="1600" b="1" dirty="0">
                <a:solidFill>
                  <a:srgbClr val="FF9B26"/>
                </a:solidFill>
                <a:latin typeface="Calibri" pitchFamily="34" charset="0"/>
                <a:ea typeface="Calibri" pitchFamily="34" charset="-122"/>
                <a:cs typeface="Calibri" pitchFamily="34" charset="-120"/>
              </a:rPr>
              <a:t>53%</a:t>
            </a:r>
            <a:pPr indent="0" marL="0">
              <a:buNone/>
            </a:pPr>
            <a:r>
              <a:rPr lang="en-US" sz="1000" dirty="0">
                <a:solidFill>
                  <a:srgbClr val="9CA3AF"/>
                </a:solidFill>
                <a:latin typeface="Calibri" pitchFamily="34" charset="0"/>
                <a:ea typeface="Calibri" pitchFamily="34" charset="-122"/>
                <a:cs typeface="Calibri" pitchFamily="34" charset="-120"/>
              </a:rPr>
              <a:t> donnees = barriere #1</a:t>
            </a:r>
            <a:endParaRPr lang="en-US" sz="1600" dirty="0"/>
          </a:p>
        </p:txBody>
      </p:sp>
      <p:sp>
        <p:nvSpPr>
          <p:cNvPr id="27" name="Shape 24"/>
          <p:cNvSpPr/>
          <p:nvPr/>
        </p:nvSpPr>
        <p:spPr>
          <a:xfrm>
            <a:off x="5852160" y="4434840"/>
            <a:ext cx="2377440" cy="502920"/>
          </a:xfrm>
          <a:prstGeom prst="rect">
            <a:avLst/>
          </a:prstGeom>
          <a:solidFill>
            <a:srgbClr val="1A1D27"/>
          </a:solidFill>
          <a:ln/>
        </p:spPr>
      </p:sp>
      <p:sp>
        <p:nvSpPr>
          <p:cNvPr id="28" name="Text 25"/>
          <p:cNvSpPr/>
          <p:nvPr/>
        </p:nvSpPr>
        <p:spPr>
          <a:xfrm>
            <a:off x="5943600" y="4434840"/>
            <a:ext cx="2194560" cy="502920"/>
          </a:xfrm>
          <a:prstGeom prst="rect">
            <a:avLst/>
          </a:prstGeom>
          <a:noFill/>
          <a:ln/>
        </p:spPr>
        <p:txBody>
          <a:bodyPr wrap="square" lIns="0" tIns="0" rIns="0" bIns="0" rtlCol="0" anchor="ctr"/>
          <a:lstStyle/>
          <a:p>
            <a:pPr indent="0" marL="0">
              <a:buNone/>
            </a:pPr>
            <a:r>
              <a:rPr lang="en-US" sz="1600" b="1" dirty="0">
                <a:solidFill>
                  <a:srgbClr val="E768E6"/>
                </a:solidFill>
                <a:latin typeface="Calibri" pitchFamily="34" charset="0"/>
                <a:ea typeface="Calibri" pitchFamily="34" charset="-122"/>
                <a:cs typeface="Calibri" pitchFamily="34" charset="-120"/>
              </a:rPr>
              <a:t>32%</a:t>
            </a:r>
            <a:pPr indent="0" marL="0">
              <a:buNone/>
            </a:pPr>
            <a:r>
              <a:rPr lang="en-US" sz="1000" dirty="0">
                <a:solidFill>
                  <a:srgbClr val="9CA3AF"/>
                </a:solidFill>
                <a:latin typeface="Calibri" pitchFamily="34" charset="0"/>
                <a:ea typeface="Calibri" pitchFamily="34" charset="-122"/>
                <a:cs typeface="Calibri" pitchFamily="34" charset="-120"/>
              </a:rPr>
              <a:t> admins confiants sur l'IA SF</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365760"/>
          </a:xfrm>
          <a:prstGeom prst="rect">
            <a:avLst/>
          </a:prstGeom>
          <a:noFill/>
          <a:ln/>
        </p:spPr>
        <p:txBody>
          <a:bodyPr wrap="square" lIns="0" tIns="0" rIns="0" bIns="0" rtlCol="0" anchor="ctr"/>
          <a:lstStyle/>
          <a:p>
            <a:pPr indent="0" marL="0">
              <a:buNone/>
            </a:pPr>
            <a:r>
              <a:rPr lang="en-US" sz="1300" b="1" spc="600" kern="0" dirty="0">
                <a:solidFill>
                  <a:srgbClr val="9CA3AF"/>
                </a:solidFill>
                <a:latin typeface="Arial" pitchFamily="34" charset="0"/>
                <a:ea typeface="Arial" pitchFamily="34" charset="-122"/>
                <a:cs typeface="Arial" pitchFamily="34" charset="-120"/>
              </a:rPr>
              <a:t>ORGLOOKUP</a:t>
            </a:r>
            <a:endParaRPr lang="en-US" sz="1300" dirty="0"/>
          </a:p>
        </p:txBody>
      </p:sp>
      <p:sp>
        <p:nvSpPr>
          <p:cNvPr id="4" name="Text 1"/>
          <p:cNvSpPr/>
          <p:nvPr/>
        </p:nvSpPr>
        <p:spPr>
          <a:xfrm>
            <a:off x="731520" y="640080"/>
            <a:ext cx="7315200" cy="8229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Comprenez votre org</a:t>
            </a:r>
            <a:endParaRPr lang="en-US" sz="2800" dirty="0"/>
          </a:p>
          <a:p>
            <a:pPr indent="0" marL="0">
              <a:buNone/>
            </a:pPr>
            <a:r>
              <a:rPr lang="en-US" sz="2800" b="1" dirty="0">
                <a:solidFill>
                  <a:srgbClr val="FF9B26"/>
                </a:solidFill>
                <a:latin typeface="Georgia" pitchFamily="34" charset="0"/>
                <a:ea typeface="Georgia" pitchFamily="34" charset="-122"/>
                <a:cs typeface="Georgia" pitchFamily="34" charset="-120"/>
              </a:rPr>
              <a:t>avant que vos agents ne l'explorent.</a:t>
            </a:r>
            <a:endParaRPr lang="en-US" sz="2800" dirty="0"/>
          </a:p>
        </p:txBody>
      </p:sp>
      <p:sp>
        <p:nvSpPr>
          <p:cNvPr id="5" name="Text 2"/>
          <p:cNvSpPr/>
          <p:nvPr/>
        </p:nvSpPr>
        <p:spPr>
          <a:xfrm>
            <a:off x="731520" y="1463040"/>
            <a:ext cx="7315200" cy="5486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OrgLookup cartographie les 4 couches de votre org : code, configuration, integrations externes et utilisateurs. Vous voyez chaque dependance, chaque risque, avant de deployer.</a:t>
            </a:r>
            <a:endParaRPr lang="en-US" sz="1200" dirty="0"/>
          </a:p>
        </p:txBody>
      </p:sp>
      <p:sp>
        <p:nvSpPr>
          <p:cNvPr id="6" name="Shape 3"/>
          <p:cNvSpPr/>
          <p:nvPr/>
        </p:nvSpPr>
        <p:spPr>
          <a:xfrm>
            <a:off x="457200" y="2194560"/>
            <a:ext cx="1920240" cy="2468880"/>
          </a:xfrm>
          <a:prstGeom prst="rect">
            <a:avLst/>
          </a:prstGeom>
          <a:solidFill>
            <a:srgbClr val="1A1D27"/>
          </a:solidFill>
          <a:ln/>
        </p:spPr>
      </p:sp>
      <p:sp>
        <p:nvSpPr>
          <p:cNvPr id="7" name="Shape 4"/>
          <p:cNvSpPr/>
          <p:nvPr/>
        </p:nvSpPr>
        <p:spPr>
          <a:xfrm>
            <a:off x="457200" y="2194560"/>
            <a:ext cx="1920240" cy="45720"/>
          </a:xfrm>
          <a:prstGeom prst="rect">
            <a:avLst/>
          </a:prstGeom>
          <a:solidFill>
            <a:srgbClr val="3B82F6"/>
          </a:solidFill>
          <a:ln/>
        </p:spPr>
      </p:sp>
      <p:pic>
        <p:nvPicPr>
          <p:cNvPr id="8" name="Image 1" descr="preencoded.png">    </p:cNvPr>
          <p:cNvPicPr>
            <a:picLocks noChangeAspect="1"/>
          </p:cNvPicPr>
          <p:nvPr/>
        </p:nvPicPr>
        <p:blipFill>
          <a:blip r:embed="rId2"/>
          <a:stretch>
            <a:fillRect/>
          </a:stretch>
        </p:blipFill>
        <p:spPr>
          <a:xfrm>
            <a:off x="1143000" y="2423160"/>
            <a:ext cx="457200" cy="457200"/>
          </a:xfrm>
          <a:prstGeom prst="rect">
            <a:avLst/>
          </a:prstGeom>
        </p:spPr>
      </p:pic>
      <p:sp>
        <p:nvSpPr>
          <p:cNvPr id="9" name="Text 5"/>
          <p:cNvSpPr/>
          <p:nvPr/>
        </p:nvSpPr>
        <p:spPr>
          <a:xfrm>
            <a:off x="457200" y="3017520"/>
            <a:ext cx="1920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Carte complete de l'org</a:t>
            </a:r>
            <a:endParaRPr lang="en-US" sz="1300" dirty="0"/>
          </a:p>
        </p:txBody>
      </p:sp>
      <p:sp>
        <p:nvSpPr>
          <p:cNvPr id="10" name="Text 6"/>
          <p:cNvSpPr/>
          <p:nvPr/>
        </p:nvSpPr>
        <p:spPr>
          <a:xfrm>
            <a:off x="594360" y="3383280"/>
            <a:ext cx="1645920" cy="10058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Code, configuration,</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integrations externes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et utilisateurs dans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un seul graphe.</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Sans dependance a l'API</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officielle (en beta</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depuis 6 ans).</a:t>
            </a:r>
            <a:endParaRPr lang="en-US" sz="1000" dirty="0"/>
          </a:p>
        </p:txBody>
      </p:sp>
      <p:sp>
        <p:nvSpPr>
          <p:cNvPr id="11" name="Shape 7"/>
          <p:cNvSpPr/>
          <p:nvPr/>
        </p:nvSpPr>
        <p:spPr>
          <a:xfrm>
            <a:off x="2606040" y="2194560"/>
            <a:ext cx="1920240" cy="2468880"/>
          </a:xfrm>
          <a:prstGeom prst="rect">
            <a:avLst/>
          </a:prstGeom>
          <a:solidFill>
            <a:srgbClr val="1A1D27"/>
          </a:solidFill>
          <a:ln/>
        </p:spPr>
      </p:sp>
      <p:sp>
        <p:nvSpPr>
          <p:cNvPr id="12" name="Shape 8"/>
          <p:cNvSpPr/>
          <p:nvPr/>
        </p:nvSpPr>
        <p:spPr>
          <a:xfrm>
            <a:off x="2606040" y="2194560"/>
            <a:ext cx="1920240" cy="45720"/>
          </a:xfrm>
          <a:prstGeom prst="rect">
            <a:avLst/>
          </a:prstGeom>
          <a:solidFill>
            <a:srgbClr val="E768E6"/>
          </a:solidFill>
          <a:ln/>
        </p:spPr>
      </p:sp>
      <p:pic>
        <p:nvPicPr>
          <p:cNvPr id="13" name="Image 2" descr="preencoded.png">    </p:cNvPr>
          <p:cNvPicPr>
            <a:picLocks noChangeAspect="1"/>
          </p:cNvPicPr>
          <p:nvPr/>
        </p:nvPicPr>
        <p:blipFill>
          <a:blip r:embed="rId3"/>
          <a:stretch>
            <a:fillRect/>
          </a:stretch>
        </p:blipFill>
        <p:spPr>
          <a:xfrm>
            <a:off x="3291840" y="2423160"/>
            <a:ext cx="457200" cy="457200"/>
          </a:xfrm>
          <a:prstGeom prst="rect">
            <a:avLst/>
          </a:prstGeom>
        </p:spPr>
      </p:pic>
      <p:sp>
        <p:nvSpPr>
          <p:cNvPr id="14" name="Text 9"/>
          <p:cNvSpPr/>
          <p:nvPr/>
        </p:nvSpPr>
        <p:spPr>
          <a:xfrm>
            <a:off x="2606040" y="3017520"/>
            <a:ext cx="1920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 vues de risque</a:t>
            </a:r>
            <a:endParaRPr lang="en-US" sz="1300" dirty="0"/>
          </a:p>
        </p:txBody>
      </p:sp>
      <p:sp>
        <p:nvSpPr>
          <p:cNvPr id="15" name="Text 10"/>
          <p:cNvSpPr/>
          <p:nvPr/>
        </p:nvSpPr>
        <p:spPr>
          <a:xfrm>
            <a:off x="2743200" y="3383280"/>
            <a:ext cx="1645920" cy="10058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Performance : quelles regles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vont faire planter l'agent ?</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Securite : quelles donnees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l'agent voit-il en trop ?</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Qualite : l'IA comprend-elle</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vos donnees ?</a:t>
            </a:r>
            <a:endParaRPr lang="en-US" sz="1000" dirty="0"/>
          </a:p>
        </p:txBody>
      </p:sp>
      <p:sp>
        <p:nvSpPr>
          <p:cNvPr id="16" name="Shape 11"/>
          <p:cNvSpPr/>
          <p:nvPr/>
        </p:nvSpPr>
        <p:spPr>
          <a:xfrm>
            <a:off x="4754880" y="2194560"/>
            <a:ext cx="1920240" cy="2468880"/>
          </a:xfrm>
          <a:prstGeom prst="rect">
            <a:avLst/>
          </a:prstGeom>
          <a:solidFill>
            <a:srgbClr val="1A1D27"/>
          </a:solidFill>
          <a:ln/>
        </p:spPr>
      </p:sp>
      <p:sp>
        <p:nvSpPr>
          <p:cNvPr id="17" name="Shape 12"/>
          <p:cNvSpPr/>
          <p:nvPr/>
        </p:nvSpPr>
        <p:spPr>
          <a:xfrm>
            <a:off x="4754880" y="2194560"/>
            <a:ext cx="1920240" cy="45720"/>
          </a:xfrm>
          <a:prstGeom prst="rect">
            <a:avLst/>
          </a:prstGeom>
          <a:solidFill>
            <a:srgbClr val="22C55E"/>
          </a:solidFill>
          <a:ln/>
        </p:spPr>
      </p:sp>
      <p:pic>
        <p:nvPicPr>
          <p:cNvPr id="18" name="Image 3" descr="preencoded.png">    </p:cNvPr>
          <p:cNvPicPr>
            <a:picLocks noChangeAspect="1"/>
          </p:cNvPicPr>
          <p:nvPr/>
        </p:nvPicPr>
        <p:blipFill>
          <a:blip r:embed="rId4"/>
          <a:stretch>
            <a:fillRect/>
          </a:stretch>
        </p:blipFill>
        <p:spPr>
          <a:xfrm>
            <a:off x="5440680" y="2423160"/>
            <a:ext cx="457200" cy="457200"/>
          </a:xfrm>
          <a:prstGeom prst="rect">
            <a:avLst/>
          </a:prstGeom>
        </p:spPr>
      </p:pic>
      <p:sp>
        <p:nvSpPr>
          <p:cNvPr id="19" name="Text 13"/>
          <p:cNvSpPr/>
          <p:nvPr/>
        </p:nvSpPr>
        <p:spPr>
          <a:xfrm>
            <a:off x="4754880" y="3017520"/>
            <a:ext cx="1920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Mesures reelles</a:t>
            </a:r>
            <a:endParaRPr lang="en-US" sz="1300" dirty="0"/>
          </a:p>
        </p:txBody>
      </p:sp>
      <p:sp>
        <p:nvSpPr>
          <p:cNvPr id="20" name="Text 14"/>
          <p:cNvSpPr/>
          <p:nvPr/>
        </p:nvSpPr>
        <p:spPr>
          <a:xfrm>
            <a:off x="4892040" y="3383280"/>
            <a:ext cx="1645920" cy="10058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Des sondes legeres mesurent</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les vrais temps d'execution</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et les vrais acces aux donnees.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Pas besoin du module premium</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Salesforce a 65 000$/an.</a:t>
            </a:r>
            <a:endParaRPr lang="en-US" sz="1000" dirty="0"/>
          </a:p>
        </p:txBody>
      </p:sp>
      <p:sp>
        <p:nvSpPr>
          <p:cNvPr id="21" name="Shape 15"/>
          <p:cNvSpPr/>
          <p:nvPr/>
        </p:nvSpPr>
        <p:spPr>
          <a:xfrm>
            <a:off x="6903720" y="2194560"/>
            <a:ext cx="1920240" cy="2468880"/>
          </a:xfrm>
          <a:prstGeom prst="rect">
            <a:avLst/>
          </a:prstGeom>
          <a:solidFill>
            <a:srgbClr val="1A1D27"/>
          </a:solidFill>
          <a:ln/>
        </p:spPr>
      </p:sp>
      <p:sp>
        <p:nvSpPr>
          <p:cNvPr id="22" name="Shape 16"/>
          <p:cNvSpPr/>
          <p:nvPr/>
        </p:nvSpPr>
        <p:spPr>
          <a:xfrm>
            <a:off x="6903720" y="2194560"/>
            <a:ext cx="1920240" cy="45720"/>
          </a:xfrm>
          <a:prstGeom prst="rect">
            <a:avLst/>
          </a:prstGeom>
          <a:solidFill>
            <a:srgbClr val="FF9B26"/>
          </a:solidFill>
          <a:ln/>
        </p:spPr>
      </p:sp>
      <p:pic>
        <p:nvPicPr>
          <p:cNvPr id="23" name="Image 4" descr="preencoded.png">    </p:cNvPr>
          <p:cNvPicPr>
            <a:picLocks noChangeAspect="1"/>
          </p:cNvPicPr>
          <p:nvPr/>
        </p:nvPicPr>
        <p:blipFill>
          <a:blip r:embed="rId5"/>
          <a:stretch>
            <a:fillRect/>
          </a:stretch>
        </p:blipFill>
        <p:spPr>
          <a:xfrm>
            <a:off x="7589520" y="2423160"/>
            <a:ext cx="457200" cy="457200"/>
          </a:xfrm>
          <a:prstGeom prst="rect">
            <a:avLst/>
          </a:prstGeom>
        </p:spPr>
      </p:pic>
      <p:sp>
        <p:nvSpPr>
          <p:cNvPr id="24" name="Text 17"/>
          <p:cNvSpPr/>
          <p:nvPr/>
        </p:nvSpPr>
        <p:spPr>
          <a:xfrm>
            <a:off x="6903720" y="3017520"/>
            <a:ext cx="1920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Agent IA integre</a:t>
            </a:r>
            <a:endParaRPr lang="en-US" sz="1300" dirty="0"/>
          </a:p>
        </p:txBody>
      </p:sp>
      <p:sp>
        <p:nvSpPr>
          <p:cNvPr id="25" name="Text 18"/>
          <p:cNvSpPr/>
          <p:nvPr/>
        </p:nvSpPr>
        <p:spPr>
          <a:xfrm>
            <a:off x="7040880" y="3383280"/>
            <a:ext cx="1645920" cy="1005840"/>
          </a:xfrm>
          <a:prstGeom prst="rect">
            <a:avLst/>
          </a:prstGeom>
          <a:noFill/>
          <a:ln/>
        </p:spPr>
        <p:txBody>
          <a:bodyPr wrap="square" lIns="0" tIns="0" rIns="0" bIns="0"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Posez vos questions en</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langage naturel. L'agent</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analyse, detecte les risques,</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et propose un plan d'action</a:t>
            </a:r>
            <a:endParaRPr lang="en-US" sz="1000" dirty="0"/>
          </a:p>
          <a:p>
            <a:pPr algn="ctr" indent="0" marL="0">
              <a:buNone/>
            </a:pPr>
            <a:r>
              <a:rPr lang="en-US" sz="1000" dirty="0">
                <a:solidFill>
                  <a:srgbClr val="9CA3AF"/>
                </a:solidFill>
                <a:latin typeface="Calibri" pitchFamily="34" charset="0"/>
                <a:ea typeface="Calibri" pitchFamily="34" charset="-122"/>
                <a:cs typeface="Calibri" pitchFamily="34" charset="-120"/>
              </a:rPr>
              <a:t>concret.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Comment ca marche — en 3 etapes</a:t>
            </a:r>
            <a:endParaRPr lang="en-US" sz="2600" dirty="0"/>
          </a:p>
        </p:txBody>
      </p:sp>
      <p:sp>
        <p:nvSpPr>
          <p:cNvPr id="4" name="Shape 1"/>
          <p:cNvSpPr/>
          <p:nvPr/>
        </p:nvSpPr>
        <p:spPr>
          <a:xfrm>
            <a:off x="731520" y="960120"/>
            <a:ext cx="7680960" cy="1143000"/>
          </a:xfrm>
          <a:prstGeom prst="rect">
            <a:avLst/>
          </a:prstGeom>
          <a:solidFill>
            <a:srgbClr val="1A1D27"/>
          </a:solidFill>
          <a:ln/>
        </p:spPr>
      </p:sp>
      <p:sp>
        <p:nvSpPr>
          <p:cNvPr id="5" name="Shape 2"/>
          <p:cNvSpPr/>
          <p:nvPr/>
        </p:nvSpPr>
        <p:spPr>
          <a:xfrm>
            <a:off x="1005840" y="1234440"/>
            <a:ext cx="502920" cy="502920"/>
          </a:xfrm>
          <a:prstGeom prst="ellipse">
            <a:avLst/>
          </a:prstGeom>
          <a:solidFill>
            <a:srgbClr val="1F2937"/>
          </a:solidFill>
          <a:ln/>
        </p:spPr>
      </p:sp>
      <p:sp>
        <p:nvSpPr>
          <p:cNvPr id="6" name="Text 3"/>
          <p:cNvSpPr/>
          <p:nvPr/>
        </p:nvSpPr>
        <p:spPr>
          <a:xfrm>
            <a:off x="1005840" y="1234440"/>
            <a:ext cx="502920" cy="502920"/>
          </a:xfrm>
          <a:prstGeom prst="rect">
            <a:avLst/>
          </a:prstGeom>
          <a:noFill/>
          <a:ln/>
        </p:spPr>
        <p:txBody>
          <a:bodyPr wrap="square" lIns="0" tIns="0" rIns="0" bIns="0" rtlCol="0" anchor="ctr"/>
          <a:lstStyle/>
          <a:p>
            <a:pPr algn="ctr" indent="0" marL="0">
              <a:buNone/>
            </a:pPr>
            <a:r>
              <a:rPr lang="en-US" sz="2000" b="1" dirty="0">
                <a:solidFill>
                  <a:srgbClr val="FF9B26"/>
                </a:solidFill>
                <a:latin typeface="Georgia" pitchFamily="34" charset="0"/>
                <a:ea typeface="Georgia" pitchFamily="34" charset="-122"/>
                <a:cs typeface="Georgia" pitchFamily="34" charset="-120"/>
              </a:rPr>
              <a:t>1</a:t>
            </a:r>
            <a:endParaRPr lang="en-US" sz="2000" dirty="0"/>
          </a:p>
        </p:txBody>
      </p:sp>
      <p:sp>
        <p:nvSpPr>
          <p:cNvPr id="7" name="Text 4"/>
          <p:cNvSpPr/>
          <p:nvPr/>
        </p:nvSpPr>
        <p:spPr>
          <a:xfrm>
            <a:off x="1737360" y="105156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Selectionnez vos objets</a:t>
            </a:r>
            <a:endParaRPr lang="en-US" sz="1500" dirty="0"/>
          </a:p>
        </p:txBody>
      </p:sp>
      <p:sp>
        <p:nvSpPr>
          <p:cNvPr id="8" name="Text 5"/>
          <p:cNvSpPr/>
          <p:nvPr/>
        </p:nvSpPr>
        <p:spPr>
          <a:xfrm>
            <a:off x="1737360" y="141732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L'admin choisit les donnees sur lesquelles l'agent IA va travailler</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(ex: Clients, Commandes, Tickets de support).</a:t>
            </a:r>
            <a:endParaRPr lang="en-US" sz="1050" dirty="0"/>
          </a:p>
        </p:txBody>
      </p:sp>
      <p:pic>
        <p:nvPicPr>
          <p:cNvPr id="9" name="Image 1" descr="screenshots/04-before-after-top.png">    </p:cNvPr>
          <p:cNvPicPr>
            <a:picLocks noChangeAspect="1"/>
          </p:cNvPicPr>
          <p:nvPr/>
        </p:nvPicPr>
        <p:blipFill>
          <a:blip r:embed="rId2"/>
          <a:stretch>
            <a:fillRect/>
          </a:stretch>
        </p:blipFill>
        <p:spPr>
          <a:xfrm>
            <a:off x="5943600" y="1005840"/>
            <a:ext cx="2377440" cy="1051560"/>
          </a:xfrm>
          <a:prstGeom prst="ellipse">
            <a:avLst/>
          </a:prstGeom>
        </p:spPr>
      </p:pic>
      <p:sp>
        <p:nvSpPr>
          <p:cNvPr id="10" name="Shape 6"/>
          <p:cNvSpPr/>
          <p:nvPr/>
        </p:nvSpPr>
        <p:spPr>
          <a:xfrm>
            <a:off x="731520" y="2286000"/>
            <a:ext cx="7680960" cy="1143000"/>
          </a:xfrm>
          <a:prstGeom prst="rect">
            <a:avLst/>
          </a:prstGeom>
          <a:solidFill>
            <a:srgbClr val="1A1D27"/>
          </a:solidFill>
          <a:ln/>
        </p:spPr>
      </p:sp>
      <p:sp>
        <p:nvSpPr>
          <p:cNvPr id="11" name="Shape 7"/>
          <p:cNvSpPr/>
          <p:nvPr/>
        </p:nvSpPr>
        <p:spPr>
          <a:xfrm>
            <a:off x="1005840" y="2560320"/>
            <a:ext cx="502920" cy="502920"/>
          </a:xfrm>
          <a:prstGeom prst="ellipse">
            <a:avLst/>
          </a:prstGeom>
          <a:solidFill>
            <a:srgbClr val="1F2937"/>
          </a:solidFill>
          <a:ln/>
        </p:spPr>
      </p:sp>
      <p:sp>
        <p:nvSpPr>
          <p:cNvPr id="12" name="Text 8"/>
          <p:cNvSpPr/>
          <p:nvPr/>
        </p:nvSpPr>
        <p:spPr>
          <a:xfrm>
            <a:off x="1005840" y="2560320"/>
            <a:ext cx="502920" cy="502920"/>
          </a:xfrm>
          <a:prstGeom prst="rect">
            <a:avLst/>
          </a:prstGeom>
          <a:noFill/>
          <a:ln/>
        </p:spPr>
        <p:txBody>
          <a:bodyPr wrap="square" lIns="0" tIns="0" rIns="0" bIns="0" rtlCol="0" anchor="ctr"/>
          <a:lstStyle/>
          <a:p>
            <a:pPr algn="ctr" indent="0" marL="0">
              <a:buNone/>
            </a:pPr>
            <a:r>
              <a:rPr lang="en-US" sz="2000" b="1" dirty="0">
                <a:solidFill>
                  <a:srgbClr val="FF9B26"/>
                </a:solidFill>
                <a:latin typeface="Georgia" pitchFamily="34" charset="0"/>
                <a:ea typeface="Georgia" pitchFamily="34" charset="-122"/>
                <a:cs typeface="Georgia" pitchFamily="34" charset="-120"/>
              </a:rPr>
              <a:t>2</a:t>
            </a:r>
            <a:endParaRPr lang="en-US" sz="2000" dirty="0"/>
          </a:p>
        </p:txBody>
      </p:sp>
      <p:sp>
        <p:nvSpPr>
          <p:cNvPr id="13" name="Text 9"/>
          <p:cNvSpPr/>
          <p:nvPr/>
        </p:nvSpPr>
        <p:spPr>
          <a:xfrm>
            <a:off x="1737360" y="237744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Explorez le graphe interactif</a:t>
            </a:r>
            <a:endParaRPr lang="en-US" sz="1500" dirty="0"/>
          </a:p>
        </p:txBody>
      </p:sp>
      <p:sp>
        <p:nvSpPr>
          <p:cNvPr id="14" name="Text 10"/>
          <p:cNvSpPr/>
          <p:nvPr/>
        </p:nvSpPr>
        <p:spPr>
          <a:xfrm>
            <a:off x="1737360" y="274320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OrgLookup affiche une carte 3D de toutes les connexions.</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Activez des filtres pour voir les risques : crash, securite, qualite.</a:t>
            </a:r>
            <a:endParaRPr lang="en-US" sz="1050" dirty="0"/>
          </a:p>
        </p:txBody>
      </p:sp>
      <p:pic>
        <p:nvPicPr>
          <p:cNvPr id="15" name="Image 2" descr="screenshots/element-constellation-auto.png">    </p:cNvPr>
          <p:cNvPicPr>
            <a:picLocks noChangeAspect="1"/>
          </p:cNvPicPr>
          <p:nvPr/>
        </p:nvPicPr>
        <p:blipFill>
          <a:blip r:embed="rId3"/>
          <a:stretch>
            <a:fillRect/>
          </a:stretch>
        </p:blipFill>
        <p:spPr>
          <a:xfrm>
            <a:off x="5943600" y="2331720"/>
            <a:ext cx="2377440" cy="1051560"/>
          </a:xfrm>
          <a:prstGeom prst="ellipse">
            <a:avLst/>
          </a:prstGeom>
        </p:spPr>
      </p:pic>
      <p:sp>
        <p:nvSpPr>
          <p:cNvPr id="16" name="Shape 11"/>
          <p:cNvSpPr/>
          <p:nvPr/>
        </p:nvSpPr>
        <p:spPr>
          <a:xfrm>
            <a:off x="731520" y="3611880"/>
            <a:ext cx="7680960" cy="1143000"/>
          </a:xfrm>
          <a:prstGeom prst="rect">
            <a:avLst/>
          </a:prstGeom>
          <a:solidFill>
            <a:srgbClr val="1A1D27"/>
          </a:solidFill>
          <a:ln/>
        </p:spPr>
      </p:sp>
      <p:sp>
        <p:nvSpPr>
          <p:cNvPr id="17" name="Shape 12"/>
          <p:cNvSpPr/>
          <p:nvPr/>
        </p:nvSpPr>
        <p:spPr>
          <a:xfrm>
            <a:off x="1005840" y="3886200"/>
            <a:ext cx="502920" cy="502920"/>
          </a:xfrm>
          <a:prstGeom prst="ellipse">
            <a:avLst/>
          </a:prstGeom>
          <a:solidFill>
            <a:srgbClr val="1F2937"/>
          </a:solidFill>
          <a:ln/>
        </p:spPr>
      </p:sp>
      <p:sp>
        <p:nvSpPr>
          <p:cNvPr id="18" name="Text 13"/>
          <p:cNvSpPr/>
          <p:nvPr/>
        </p:nvSpPr>
        <p:spPr>
          <a:xfrm>
            <a:off x="1005840" y="3886200"/>
            <a:ext cx="502920" cy="502920"/>
          </a:xfrm>
          <a:prstGeom prst="rect">
            <a:avLst/>
          </a:prstGeom>
          <a:noFill/>
          <a:ln/>
        </p:spPr>
        <p:txBody>
          <a:bodyPr wrap="square" lIns="0" tIns="0" rIns="0" bIns="0" rtlCol="0" anchor="ctr"/>
          <a:lstStyle/>
          <a:p>
            <a:pPr algn="ctr" indent="0" marL="0">
              <a:buNone/>
            </a:pPr>
            <a:r>
              <a:rPr lang="en-US" sz="2000" b="1" dirty="0">
                <a:solidFill>
                  <a:srgbClr val="FF9B26"/>
                </a:solidFill>
                <a:latin typeface="Georgia" pitchFamily="34" charset="0"/>
                <a:ea typeface="Georgia" pitchFamily="34" charset="-122"/>
                <a:cs typeface="Georgia" pitchFamily="34" charset="-120"/>
              </a:rPr>
              <a:t>3</a:t>
            </a:r>
            <a:endParaRPr lang="en-US" sz="2000" dirty="0"/>
          </a:p>
        </p:txBody>
      </p:sp>
      <p:sp>
        <p:nvSpPr>
          <p:cNvPr id="19" name="Text 14"/>
          <p:cNvSpPr/>
          <p:nvPr/>
        </p:nvSpPr>
        <p:spPr>
          <a:xfrm>
            <a:off x="1737360" y="3703320"/>
            <a:ext cx="365760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Posez des questions a l'agent</a:t>
            </a:r>
            <a:endParaRPr lang="en-US" sz="1500" dirty="0"/>
          </a:p>
        </p:txBody>
      </p:sp>
      <p:sp>
        <p:nvSpPr>
          <p:cNvPr id="20" name="Text 15"/>
          <p:cNvSpPr/>
          <p:nvPr/>
        </p:nvSpPr>
        <p:spPr>
          <a:xfrm>
            <a:off x="1737360" y="4069080"/>
            <a:ext cx="4114800" cy="59436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Demandez en langage naturel : "Que se passe-t-il si l'IA cree</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un ticket ?" L'agent analyse, repond, et met a jour le graphe.</a:t>
            </a:r>
            <a:endParaRPr lang="en-US" sz="1050" dirty="0"/>
          </a:p>
        </p:txBody>
      </p:sp>
      <p:pic>
        <p:nvPicPr>
          <p:cNvPr id="21" name="Image 3" descr="screenshots/element-agent-chat.png">    </p:cNvPr>
          <p:cNvPicPr>
            <a:picLocks noChangeAspect="1"/>
          </p:cNvPicPr>
          <p:nvPr/>
        </p:nvPicPr>
        <p:blipFill>
          <a:blip r:embed="rId4"/>
          <a:stretch>
            <a:fillRect/>
          </a:stretch>
        </p:blipFill>
        <p:spPr>
          <a:xfrm>
            <a:off x="5943600" y="3657600"/>
            <a:ext cx="2377440" cy="105156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Notre avantage technique : </a:t>
            </a:r>
            <a:pPr indent="0" marL="0">
              <a:buNone/>
            </a:pPr>
            <a:r>
              <a:rPr lang="en-US" sz="2600" b="1" dirty="0">
                <a:solidFill>
                  <a:srgbClr val="FF9B26"/>
                </a:solidFill>
                <a:latin typeface="Georgia" pitchFamily="34" charset="0"/>
                <a:ea typeface="Georgia" pitchFamily="34" charset="-122"/>
                <a:cs typeface="Georgia" pitchFamily="34" charset="-120"/>
              </a:rPr>
              <a:t>les sondes</a:t>
            </a:r>
            <a:endParaRPr lang="en-US" sz="2600" dirty="0"/>
          </a:p>
        </p:txBody>
      </p:sp>
      <p:sp>
        <p:nvSpPr>
          <p:cNvPr id="4" name="Text 1"/>
          <p:cNvSpPr/>
          <p:nvPr/>
        </p:nvSpPr>
        <p:spPr>
          <a:xfrm>
            <a:off x="731520" y="868680"/>
            <a:ext cx="7680960" cy="5486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Le probleme : Salesforce vend l'acces aux donnees d'execution reelles via un module premium (Shield). Cout : des dizaines de milliers de dollars par an. Sans ces donnees, impossible de savoir ce qui se passe vraiment. Notre solution : on installe nos propres capteurs.</a:t>
            </a:r>
            <a:endParaRPr lang="en-US" sz="1200" dirty="0"/>
          </a:p>
        </p:txBody>
      </p:sp>
      <p:sp>
        <p:nvSpPr>
          <p:cNvPr id="5" name="Shape 2"/>
          <p:cNvSpPr/>
          <p:nvPr/>
        </p:nvSpPr>
        <p:spPr>
          <a:xfrm>
            <a:off x="457200" y="1645920"/>
            <a:ext cx="3931920" cy="1828800"/>
          </a:xfrm>
          <a:prstGeom prst="rect">
            <a:avLst/>
          </a:prstGeom>
          <a:solidFill>
            <a:srgbClr val="1A1D27"/>
          </a:solidFill>
          <a:ln/>
        </p:spPr>
      </p:sp>
      <p:sp>
        <p:nvSpPr>
          <p:cNvPr id="6" name="Shape 3"/>
          <p:cNvSpPr/>
          <p:nvPr/>
        </p:nvSpPr>
        <p:spPr>
          <a:xfrm>
            <a:off x="457200" y="1645920"/>
            <a:ext cx="3931920" cy="45720"/>
          </a:xfrm>
          <a:prstGeom prst="rect">
            <a:avLst/>
          </a:prstGeom>
          <a:solidFill>
            <a:srgbClr val="9CA3AF"/>
          </a:solidFill>
          <a:ln/>
        </p:spPr>
      </p:sp>
      <p:sp>
        <p:nvSpPr>
          <p:cNvPr id="7" name="Text 4"/>
          <p:cNvSpPr/>
          <p:nvPr/>
        </p:nvSpPr>
        <p:spPr>
          <a:xfrm>
            <a:off x="457200" y="1783080"/>
            <a:ext cx="3931920" cy="320040"/>
          </a:xfrm>
          <a:prstGeom prst="rect">
            <a:avLst/>
          </a:prstGeom>
          <a:noFill/>
          <a:ln/>
        </p:spPr>
        <p:txBody>
          <a:bodyPr wrap="square" lIns="0" tIns="0" rIns="0" bIns="0" rtlCol="0" anchor="ctr"/>
          <a:lstStyle/>
          <a:p>
            <a:pPr algn="ctr" indent="0" marL="0">
              <a:buNone/>
            </a:pPr>
            <a:r>
              <a:rPr lang="en-US" sz="1400" b="1" dirty="0">
                <a:solidFill>
                  <a:srgbClr val="9CA3AF"/>
                </a:solidFill>
                <a:latin typeface="Georgia" pitchFamily="34" charset="0"/>
                <a:ea typeface="Georgia" pitchFamily="34" charset="-122"/>
                <a:cs typeface="Georgia" pitchFamily="34" charset="-120"/>
              </a:rPr>
              <a:t>Jour 0 — Estimations</a:t>
            </a:r>
            <a:endParaRPr lang="en-US" sz="1400" dirty="0"/>
          </a:p>
        </p:txBody>
      </p:sp>
      <p:sp>
        <p:nvSpPr>
          <p:cNvPr id="8" name="Text 5"/>
          <p:cNvSpPr/>
          <p:nvPr/>
        </p:nvSpPr>
        <p:spPr>
          <a:xfrm>
            <a:off x="731520" y="2194560"/>
            <a:ext cx="3383280" cy="1097280"/>
          </a:xfrm>
          <a:prstGeom prst="rect">
            <a:avLst/>
          </a:prstGeom>
          <a:noFill/>
          <a:ln/>
        </p:spPr>
        <p:txBody>
          <a:bodyPr wrap="square" lIns="0" tIns="0" rIns="0" bIns="0" rtlCol="0" anchor="ctr"/>
          <a:lstStyle/>
          <a:p>
            <a:pPr marL="342900" indent="-342900">
              <a:buSzPct val="100000"/>
              <a:buChar char="•"/>
            </a:pPr>
            <a:r>
              <a:rPr lang="en-US" sz="1050" dirty="0">
                <a:solidFill>
                  <a:srgbClr val="9CA3AF"/>
                </a:solidFill>
                <a:latin typeface="Calibri" pitchFamily="34" charset="0"/>
                <a:ea typeface="Calibri" pitchFamily="34" charset="-122"/>
                <a:cs typeface="Calibri" pitchFamily="34" charset="-120"/>
              </a:rPr>
              <a:t>Scores bases sur l'analyse du code source</a:t>
            </a:r>
            <a:endParaRPr lang="en-US" sz="1050" dirty="0"/>
          </a:p>
          <a:p>
            <a:pPr marL="342900" indent="-342900">
              <a:buSzPct val="100000"/>
              <a:buChar char="•"/>
            </a:pPr>
            <a:r>
              <a:rPr lang="en-US" sz="1050" dirty="0">
                <a:solidFill>
                  <a:srgbClr val="9CA3AF"/>
                </a:solidFill>
                <a:latin typeface="Calibri" pitchFamily="34" charset="0"/>
                <a:ea typeface="Calibri" pitchFamily="34" charset="-122"/>
                <a:cs typeface="Calibri" pitchFamily="34" charset="-120"/>
              </a:rPr>
              <a:t>Ordre de grandeur correct, pas precis</a:t>
            </a:r>
            <a:endParaRPr lang="en-US" sz="1050" dirty="0"/>
          </a:p>
          <a:p>
            <a:pPr marL="342900" indent="-342900">
              <a:buSzPct val="100000"/>
              <a:buChar char="•"/>
            </a:pPr>
            <a:r>
              <a:rPr lang="en-US" sz="1050" dirty="0">
                <a:solidFill>
                  <a:srgbClr val="9CA3AF"/>
                </a:solidFill>
                <a:latin typeface="Calibri" pitchFamily="34" charset="0"/>
                <a:ea typeface="Calibri" pitchFamily="34" charset="-122"/>
                <a:cs typeface="Calibri" pitchFamily="34" charset="-120"/>
              </a:rPr>
              <a:t>Suffisant pour identifier les zones a risque</a:t>
            </a:r>
            <a:endParaRPr lang="en-US" sz="1050" dirty="0"/>
          </a:p>
          <a:p>
            <a:pPr marL="342900" indent="-342900">
              <a:buSzPct val="100000"/>
              <a:buChar char="•"/>
            </a:pPr>
            <a:r>
              <a:rPr lang="en-US" sz="1050" dirty="0">
                <a:solidFill>
                  <a:srgbClr val="9CA3AF"/>
                </a:solidFill>
                <a:latin typeface="Calibri" pitchFamily="34" charset="0"/>
                <a:ea typeface="Calibri" pitchFamily="34" charset="-122"/>
                <a:cs typeface="Calibri" pitchFamily="34" charset="-120"/>
              </a:rPr>
              <a:t>Badge "Estime" affiche sur chaque score</a:t>
            </a:r>
            <a:endParaRPr lang="en-US" sz="1050" dirty="0"/>
          </a:p>
        </p:txBody>
      </p:sp>
      <p:pic>
        <p:nvPicPr>
          <p:cNvPr id="9" name="Image 1" descr="preencoded.png">    </p:cNvPr>
          <p:cNvPicPr>
            <a:picLocks noChangeAspect="1"/>
          </p:cNvPicPr>
          <p:nvPr/>
        </p:nvPicPr>
        <p:blipFill>
          <a:blip r:embed="rId2"/>
          <a:stretch>
            <a:fillRect/>
          </a:stretch>
        </p:blipFill>
        <p:spPr>
          <a:xfrm>
            <a:off x="4343400" y="2286000"/>
            <a:ext cx="365760" cy="365760"/>
          </a:xfrm>
          <a:prstGeom prst="rect">
            <a:avLst/>
          </a:prstGeom>
        </p:spPr>
      </p:pic>
      <p:sp>
        <p:nvSpPr>
          <p:cNvPr id="10" name="Shape 6"/>
          <p:cNvSpPr/>
          <p:nvPr/>
        </p:nvSpPr>
        <p:spPr>
          <a:xfrm>
            <a:off x="4754880" y="1645920"/>
            <a:ext cx="3931920" cy="1828800"/>
          </a:xfrm>
          <a:prstGeom prst="rect">
            <a:avLst/>
          </a:prstGeom>
          <a:solidFill>
            <a:srgbClr val="1A1D27"/>
          </a:solidFill>
          <a:ln/>
        </p:spPr>
      </p:sp>
      <p:sp>
        <p:nvSpPr>
          <p:cNvPr id="11" name="Shape 7"/>
          <p:cNvSpPr/>
          <p:nvPr/>
        </p:nvSpPr>
        <p:spPr>
          <a:xfrm>
            <a:off x="4754880" y="1645920"/>
            <a:ext cx="3931920" cy="45720"/>
          </a:xfrm>
          <a:prstGeom prst="rect">
            <a:avLst/>
          </a:prstGeom>
          <a:solidFill>
            <a:srgbClr val="22C55E"/>
          </a:solidFill>
          <a:ln/>
        </p:spPr>
      </p:sp>
      <p:sp>
        <p:nvSpPr>
          <p:cNvPr id="12" name="Text 8"/>
          <p:cNvSpPr/>
          <p:nvPr/>
        </p:nvSpPr>
        <p:spPr>
          <a:xfrm>
            <a:off x="4754880" y="1783080"/>
            <a:ext cx="3931920" cy="320040"/>
          </a:xfrm>
          <a:prstGeom prst="rect">
            <a:avLst/>
          </a:prstGeom>
          <a:noFill/>
          <a:ln/>
        </p:spPr>
        <p:txBody>
          <a:bodyPr wrap="square" lIns="0" tIns="0" rIns="0" bIns="0" rtlCol="0" anchor="ctr"/>
          <a:lstStyle/>
          <a:p>
            <a:pPr algn="ctr" indent="0" marL="0">
              <a:buNone/>
            </a:pPr>
            <a:r>
              <a:rPr lang="en-US" sz="1400" b="1" dirty="0">
                <a:solidFill>
                  <a:srgbClr val="22C55E"/>
                </a:solidFill>
                <a:latin typeface="Georgia" pitchFamily="34" charset="0"/>
                <a:ea typeface="Georgia" pitchFamily="34" charset="-122"/>
                <a:cs typeface="Georgia" pitchFamily="34" charset="-120"/>
              </a:rPr>
              <a:t>Jour 7+ — Mesures reelles</a:t>
            </a:r>
            <a:endParaRPr lang="en-US" sz="1400" dirty="0"/>
          </a:p>
        </p:txBody>
      </p:sp>
      <p:sp>
        <p:nvSpPr>
          <p:cNvPr id="13" name="Text 9"/>
          <p:cNvSpPr/>
          <p:nvPr/>
        </p:nvSpPr>
        <p:spPr>
          <a:xfrm>
            <a:off x="5029200" y="2194560"/>
            <a:ext cx="3383280" cy="1097280"/>
          </a:xfrm>
          <a:prstGeom prst="rect">
            <a:avLst/>
          </a:prstGeom>
          <a:noFill/>
          <a:ln/>
        </p:spPr>
        <p:txBody>
          <a:bodyPr wrap="square" lIns="0" tIns="0" rIns="0" bIns="0" rtlCol="0" anchor="ctr"/>
          <a:lstStyle/>
          <a:p>
            <a:pPr marL="342900" indent="-342900">
              <a:buSzPct val="100000"/>
              <a:buChar char="•"/>
            </a:pPr>
            <a:r>
              <a:rPr lang="en-US" sz="1050" dirty="0">
                <a:solidFill>
                  <a:srgbClr val="E5E7EB"/>
                </a:solidFill>
                <a:latin typeface="Calibri" pitchFamily="34" charset="0"/>
                <a:ea typeface="Calibri" pitchFamily="34" charset="-122"/>
                <a:cs typeface="Calibri" pitchFamily="34" charset="-120"/>
              </a:rPr>
              <a:t>Vrais temps d'execution mesures en production</a:t>
            </a:r>
            <a:endParaRPr lang="en-US" sz="1050" dirty="0"/>
          </a:p>
          <a:p>
            <a:pPr marL="342900" indent="-342900">
              <a:buSzPct val="100000"/>
              <a:buChar char="•"/>
            </a:pPr>
            <a:r>
              <a:rPr lang="en-US" sz="1050" dirty="0">
                <a:solidFill>
                  <a:srgbClr val="E5E7EB"/>
                </a:solidFill>
                <a:latin typeface="Calibri" pitchFamily="34" charset="0"/>
                <a:ea typeface="Calibri" pitchFamily="34" charset="-122"/>
                <a:cs typeface="Calibri" pitchFamily="34" charset="-120"/>
              </a:rPr>
              <a:t>Vrais acces aux donnees observes</a:t>
            </a:r>
            <a:endParaRPr lang="en-US" sz="1050" dirty="0"/>
          </a:p>
          <a:p>
            <a:pPr marL="342900" indent="-342900">
              <a:buSzPct val="100000"/>
              <a:buChar char="•"/>
            </a:pPr>
            <a:r>
              <a:rPr lang="en-US" sz="1050" dirty="0">
                <a:solidFill>
                  <a:srgbClr val="E5E7EB"/>
                </a:solidFill>
                <a:latin typeface="Calibri" pitchFamily="34" charset="0"/>
                <a:ea typeface="Calibri" pitchFamily="34" charset="-122"/>
                <a:cs typeface="Calibri" pitchFamily="34" charset="-120"/>
              </a:rPr>
              <a:t>Les priorites peuvent changer radicalement</a:t>
            </a:r>
            <a:endParaRPr lang="en-US" sz="1050" dirty="0"/>
          </a:p>
          <a:p>
            <a:pPr marL="342900" indent="-342900">
              <a:buSzPct val="100000"/>
              <a:buChar char="•"/>
            </a:pPr>
            <a:r>
              <a:rPr lang="en-US" sz="1050" dirty="0">
                <a:solidFill>
                  <a:srgbClr val="E5E7EB"/>
                </a:solidFill>
                <a:latin typeface="Calibri" pitchFamily="34" charset="0"/>
                <a:ea typeface="Calibri" pitchFamily="34" charset="-122"/>
                <a:cs typeface="Calibri" pitchFamily="34" charset="-120"/>
              </a:rPr>
              <a:t>Badge "Reel" — fiabilite maximale</a:t>
            </a:r>
            <a:endParaRPr lang="en-US" sz="1050" dirty="0"/>
          </a:p>
        </p:txBody>
      </p:sp>
      <p:sp>
        <p:nvSpPr>
          <p:cNvPr id="14" name="Shape 10"/>
          <p:cNvSpPr/>
          <p:nvPr/>
        </p:nvSpPr>
        <p:spPr>
          <a:xfrm>
            <a:off x="457200" y="3749040"/>
            <a:ext cx="8229600" cy="1097280"/>
          </a:xfrm>
          <a:prstGeom prst="rect">
            <a:avLst/>
          </a:prstGeom>
          <a:solidFill>
            <a:srgbClr val="1A1D27"/>
          </a:solidFill>
          <a:ln/>
        </p:spPr>
      </p:sp>
      <p:pic>
        <p:nvPicPr>
          <p:cNvPr id="15" name="Image 2" descr="preencoded.png">    </p:cNvPr>
          <p:cNvPicPr>
            <a:picLocks noChangeAspect="1"/>
          </p:cNvPicPr>
          <p:nvPr/>
        </p:nvPicPr>
        <p:blipFill>
          <a:blip r:embed="rId3"/>
          <a:stretch>
            <a:fillRect/>
          </a:stretch>
        </p:blipFill>
        <p:spPr>
          <a:xfrm>
            <a:off x="731520" y="3931920"/>
            <a:ext cx="274320" cy="274320"/>
          </a:xfrm>
          <a:prstGeom prst="rect">
            <a:avLst/>
          </a:prstGeom>
        </p:spPr>
      </p:pic>
      <p:sp>
        <p:nvSpPr>
          <p:cNvPr id="16" name="Text 11"/>
          <p:cNvSpPr/>
          <p:nvPr/>
        </p:nvSpPr>
        <p:spPr>
          <a:xfrm>
            <a:off x="1097280" y="3886200"/>
            <a:ext cx="1554480" cy="594360"/>
          </a:xfrm>
          <a:prstGeom prst="rect">
            <a:avLst/>
          </a:prstGeom>
          <a:noFill/>
          <a:ln/>
        </p:spPr>
        <p:txBody>
          <a:bodyPr wrap="square" lIns="0" tIns="0" rIns="0" bIns="0" rtlCol="0" anchor="ctr"/>
          <a:lstStyle/>
          <a:p>
            <a:pPr indent="0" marL="0">
              <a:buNone/>
            </a:pPr>
            <a:r>
              <a:rPr lang="en-US" sz="1000" dirty="0">
                <a:solidFill>
                  <a:srgbClr val="E5E7EB"/>
                </a:solidFill>
                <a:latin typeface="Calibri" pitchFamily="34" charset="0"/>
                <a:ea typeface="Calibri" pitchFamily="34" charset="-122"/>
                <a:cs typeface="Calibri" pitchFamily="34" charset="-120"/>
              </a:rPr>
              <a:t>Pas de licence</a:t>
            </a:r>
            <a:endParaRPr lang="en-US" sz="1000" dirty="0"/>
          </a:p>
          <a:p>
            <a:pPr indent="0" marL="0">
              <a:buNone/>
            </a:pPr>
            <a:r>
              <a:rPr lang="en-US" sz="1000" dirty="0">
                <a:solidFill>
                  <a:srgbClr val="E5E7EB"/>
                </a:solidFill>
                <a:latin typeface="Calibri" pitchFamily="34" charset="0"/>
                <a:ea typeface="Calibri" pitchFamily="34" charset="-122"/>
                <a:cs typeface="Calibri" pitchFamily="34" charset="-120"/>
              </a:rPr>
              <a:t>supplementaire</a:t>
            </a:r>
            <a:endParaRPr lang="en-US" sz="1000" dirty="0"/>
          </a:p>
        </p:txBody>
      </p:sp>
      <p:pic>
        <p:nvPicPr>
          <p:cNvPr id="17" name="Image 3" descr="preencoded.png">    </p:cNvPr>
          <p:cNvPicPr>
            <a:picLocks noChangeAspect="1"/>
          </p:cNvPicPr>
          <p:nvPr/>
        </p:nvPicPr>
        <p:blipFill>
          <a:blip r:embed="rId4"/>
          <a:stretch>
            <a:fillRect/>
          </a:stretch>
        </p:blipFill>
        <p:spPr>
          <a:xfrm>
            <a:off x="2743200" y="3931920"/>
            <a:ext cx="274320" cy="274320"/>
          </a:xfrm>
          <a:prstGeom prst="rect">
            <a:avLst/>
          </a:prstGeom>
        </p:spPr>
      </p:pic>
      <p:sp>
        <p:nvSpPr>
          <p:cNvPr id="18" name="Text 12"/>
          <p:cNvSpPr/>
          <p:nvPr/>
        </p:nvSpPr>
        <p:spPr>
          <a:xfrm>
            <a:off x="3108960" y="3886200"/>
            <a:ext cx="1554480" cy="594360"/>
          </a:xfrm>
          <a:prstGeom prst="rect">
            <a:avLst/>
          </a:prstGeom>
          <a:noFill/>
          <a:ln/>
        </p:spPr>
        <p:txBody>
          <a:bodyPr wrap="square" lIns="0" tIns="0" rIns="0" bIns="0" rtlCol="0" anchor="ctr"/>
          <a:lstStyle/>
          <a:p>
            <a:pPr indent="0" marL="0">
              <a:buNone/>
            </a:pPr>
            <a:r>
              <a:rPr lang="en-US" sz="1000" dirty="0">
                <a:solidFill>
                  <a:srgbClr val="E5E7EB"/>
                </a:solidFill>
                <a:latin typeface="Calibri" pitchFamily="34" charset="0"/>
                <a:ea typeface="Calibri" pitchFamily="34" charset="-122"/>
                <a:cs typeface="Calibri" pitchFamily="34" charset="-120"/>
              </a:rPr>
              <a:t>Impact quasi-nul</a:t>
            </a:r>
            <a:endParaRPr lang="en-US" sz="1000" dirty="0"/>
          </a:p>
          <a:p>
            <a:pPr indent="0" marL="0">
              <a:buNone/>
            </a:pPr>
            <a:r>
              <a:rPr lang="en-US" sz="1000" dirty="0">
                <a:solidFill>
                  <a:srgbClr val="E5E7EB"/>
                </a:solidFill>
                <a:latin typeface="Calibri" pitchFamily="34" charset="0"/>
                <a:ea typeface="Calibri" pitchFamily="34" charset="-122"/>
                <a:cs typeface="Calibri" pitchFamily="34" charset="-120"/>
              </a:rPr>
              <a:t>sur le systeme</a:t>
            </a:r>
            <a:endParaRPr lang="en-US" sz="1000" dirty="0"/>
          </a:p>
        </p:txBody>
      </p:sp>
      <p:pic>
        <p:nvPicPr>
          <p:cNvPr id="19" name="Image 4" descr="preencoded.png">    </p:cNvPr>
          <p:cNvPicPr>
            <a:picLocks noChangeAspect="1"/>
          </p:cNvPicPr>
          <p:nvPr/>
        </p:nvPicPr>
        <p:blipFill>
          <a:blip r:embed="rId5"/>
          <a:stretch>
            <a:fillRect/>
          </a:stretch>
        </p:blipFill>
        <p:spPr>
          <a:xfrm>
            <a:off x="4754880" y="3931920"/>
            <a:ext cx="274320" cy="274320"/>
          </a:xfrm>
          <a:prstGeom prst="rect">
            <a:avLst/>
          </a:prstGeom>
        </p:spPr>
      </p:pic>
      <p:sp>
        <p:nvSpPr>
          <p:cNvPr id="20" name="Text 13"/>
          <p:cNvSpPr/>
          <p:nvPr/>
        </p:nvSpPr>
        <p:spPr>
          <a:xfrm>
            <a:off x="5120640" y="3886200"/>
            <a:ext cx="1554480" cy="594360"/>
          </a:xfrm>
          <a:prstGeom prst="rect">
            <a:avLst/>
          </a:prstGeom>
          <a:noFill/>
          <a:ln/>
        </p:spPr>
        <p:txBody>
          <a:bodyPr wrap="square" lIns="0" tIns="0" rIns="0" bIns="0" rtlCol="0" anchor="ctr"/>
          <a:lstStyle/>
          <a:p>
            <a:pPr indent="0" marL="0">
              <a:buNone/>
            </a:pPr>
            <a:r>
              <a:rPr lang="en-US" sz="1000" dirty="0">
                <a:solidFill>
                  <a:srgbClr val="E5E7EB"/>
                </a:solidFill>
                <a:latin typeface="Calibri" pitchFamily="34" charset="0"/>
                <a:ea typeface="Calibri" pitchFamily="34" charset="-122"/>
                <a:cs typeface="Calibri" pitchFamily="34" charset="-120"/>
              </a:rPr>
              <a:t>Les scores s'ameliorent</a:t>
            </a:r>
            <a:endParaRPr lang="en-US" sz="1000" dirty="0"/>
          </a:p>
          <a:p>
            <a:pPr indent="0" marL="0">
              <a:buNone/>
            </a:pPr>
            <a:r>
              <a:rPr lang="en-US" sz="1000" dirty="0">
                <a:solidFill>
                  <a:srgbClr val="E5E7EB"/>
                </a:solidFill>
                <a:latin typeface="Calibri" pitchFamily="34" charset="0"/>
                <a:ea typeface="Calibri" pitchFamily="34" charset="-122"/>
                <a:cs typeface="Calibri" pitchFamily="34" charset="-120"/>
              </a:rPr>
              <a:t>chaque jour</a:t>
            </a:r>
            <a:endParaRPr lang="en-US" sz="1000" dirty="0"/>
          </a:p>
        </p:txBody>
      </p:sp>
      <p:pic>
        <p:nvPicPr>
          <p:cNvPr id="21" name="Image 5" descr="preencoded.png">    </p:cNvPr>
          <p:cNvPicPr>
            <a:picLocks noChangeAspect="1"/>
          </p:cNvPicPr>
          <p:nvPr/>
        </p:nvPicPr>
        <p:blipFill>
          <a:blip r:embed="rId6"/>
          <a:stretch>
            <a:fillRect/>
          </a:stretch>
        </p:blipFill>
        <p:spPr>
          <a:xfrm>
            <a:off x="6766560" y="3931920"/>
            <a:ext cx="274320" cy="274320"/>
          </a:xfrm>
          <a:prstGeom prst="rect">
            <a:avLst/>
          </a:prstGeom>
        </p:spPr>
      </p:pic>
      <p:sp>
        <p:nvSpPr>
          <p:cNvPr id="22" name="Text 14"/>
          <p:cNvSpPr/>
          <p:nvPr/>
        </p:nvSpPr>
        <p:spPr>
          <a:xfrm>
            <a:off x="7132320" y="3886200"/>
            <a:ext cx="1554480" cy="594360"/>
          </a:xfrm>
          <a:prstGeom prst="rect">
            <a:avLst/>
          </a:prstGeom>
          <a:noFill/>
          <a:ln/>
        </p:spPr>
        <p:txBody>
          <a:bodyPr wrap="square" lIns="0" tIns="0" rIns="0" bIns="0" rtlCol="0" anchor="ctr"/>
          <a:lstStyle/>
          <a:p>
            <a:pPr indent="0" marL="0">
              <a:buNone/>
            </a:pPr>
            <a:r>
              <a:rPr lang="en-US" sz="1000" dirty="0">
                <a:solidFill>
                  <a:srgbClr val="E5E7EB"/>
                </a:solidFill>
                <a:latin typeface="Calibri" pitchFamily="34" charset="0"/>
                <a:ea typeface="Calibri" pitchFamily="34" charset="-122"/>
                <a:cs typeface="Calibri" pitchFamily="34" charset="-120"/>
              </a:rPr>
              <a:t>Desactivation</a:t>
            </a:r>
            <a:endParaRPr lang="en-US" sz="1000" dirty="0"/>
          </a:p>
          <a:p>
            <a:pPr indent="0" marL="0">
              <a:buNone/>
            </a:pPr>
            <a:r>
              <a:rPr lang="en-US" sz="1000" dirty="0">
                <a:solidFill>
                  <a:srgbClr val="E5E7EB"/>
                </a:solidFill>
                <a:latin typeface="Calibri" pitchFamily="34" charset="0"/>
                <a:ea typeface="Calibri" pitchFamily="34" charset="-122"/>
                <a:cs typeface="Calibri" pitchFamily="34" charset="-120"/>
              </a:rPr>
              <a:t>en un clic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Un vrai agent, pas un chatbot</a:t>
            </a:r>
            <a:endParaRPr lang="en-US" sz="2600" dirty="0"/>
          </a:p>
        </p:txBody>
      </p:sp>
      <p:sp>
        <p:nvSpPr>
          <p:cNvPr id="4" name="Text 1"/>
          <p:cNvSpPr/>
          <p:nvPr/>
        </p:nvSpPr>
        <p:spPr>
          <a:xfrm>
            <a:off x="731520" y="822960"/>
            <a:ext cx="7680960" cy="45720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La difference avec ChatGPT ou un chatbot classique : notre agent a des outils, une memoire, et un raisonnement en plusieurs etapes.</a:t>
            </a:r>
            <a:endParaRPr lang="en-US" sz="1200" dirty="0"/>
          </a:p>
        </p:txBody>
      </p:sp>
      <p:sp>
        <p:nvSpPr>
          <p:cNvPr id="5" name="Shape 2"/>
          <p:cNvSpPr/>
          <p:nvPr/>
        </p:nvSpPr>
        <p:spPr>
          <a:xfrm>
            <a:off x="411480" y="1463040"/>
            <a:ext cx="2651760" cy="3291840"/>
          </a:xfrm>
          <a:prstGeom prst="rect">
            <a:avLst/>
          </a:prstGeom>
          <a:solidFill>
            <a:srgbClr val="1A1D27"/>
          </a:solidFill>
          <a:ln/>
        </p:spPr>
      </p:sp>
      <p:sp>
        <p:nvSpPr>
          <p:cNvPr id="6" name="Shape 3"/>
          <p:cNvSpPr/>
          <p:nvPr/>
        </p:nvSpPr>
        <p:spPr>
          <a:xfrm>
            <a:off x="411480" y="1463040"/>
            <a:ext cx="2651760" cy="45720"/>
          </a:xfrm>
          <a:prstGeom prst="rect">
            <a:avLst/>
          </a:prstGeom>
          <a:solidFill>
            <a:srgbClr val="FF9B26"/>
          </a:solidFill>
          <a:ln/>
        </p:spPr>
      </p:sp>
      <p:pic>
        <p:nvPicPr>
          <p:cNvPr id="7" name="Image 1" descr="preencoded.png">    </p:cNvPr>
          <p:cNvPicPr>
            <a:picLocks noChangeAspect="1"/>
          </p:cNvPicPr>
          <p:nvPr/>
        </p:nvPicPr>
        <p:blipFill>
          <a:blip r:embed="rId2"/>
          <a:stretch>
            <a:fillRect/>
          </a:stretch>
        </p:blipFill>
        <p:spPr>
          <a:xfrm>
            <a:off x="1463040" y="1691640"/>
            <a:ext cx="457200" cy="457200"/>
          </a:xfrm>
          <a:prstGeom prst="rect">
            <a:avLst/>
          </a:prstGeom>
        </p:spPr>
      </p:pic>
      <p:sp>
        <p:nvSpPr>
          <p:cNvPr id="8" name="Text 4"/>
          <p:cNvSpPr/>
          <p:nvPr/>
        </p:nvSpPr>
        <p:spPr>
          <a:xfrm>
            <a:off x="411480" y="228600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9 outils specialises</a:t>
            </a:r>
            <a:endParaRPr lang="en-US" sz="1300" dirty="0"/>
          </a:p>
        </p:txBody>
      </p:sp>
      <p:sp>
        <p:nvSpPr>
          <p:cNvPr id="9" name="Text 5"/>
          <p:cNvSpPr/>
          <p:nvPr/>
        </p:nvSpPr>
        <p:spPr>
          <a:xfrm>
            <a:off x="640080" y="27432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Interroger le graphe de dependances</a:t>
            </a:r>
            <a:endParaRPr lang="en-US" sz="1000" dirty="0"/>
          </a:p>
        </p:txBody>
      </p:sp>
      <p:sp>
        <p:nvSpPr>
          <p:cNvPr id="10" name="Text 6"/>
          <p:cNvSpPr/>
          <p:nvPr/>
        </p:nvSpPr>
        <p:spPr>
          <a:xfrm>
            <a:off x="640080" y="32004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Calculer le risque d'impact (CPU)</a:t>
            </a:r>
            <a:endParaRPr lang="en-US" sz="1000" dirty="0"/>
          </a:p>
        </p:txBody>
      </p:sp>
      <p:sp>
        <p:nvSpPr>
          <p:cNvPr id="11" name="Text 7"/>
          <p:cNvSpPr/>
          <p:nvPr/>
        </p:nvSpPr>
        <p:spPr>
          <a:xfrm>
            <a:off x="640080" y="36576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Detecter les integrations externes</a:t>
            </a:r>
            <a:endParaRPr lang="en-US" sz="1000" dirty="0"/>
          </a:p>
        </p:txBody>
      </p:sp>
      <p:sp>
        <p:nvSpPr>
          <p:cNvPr id="12" name="Text 8"/>
          <p:cNvSpPr/>
          <p:nvPr/>
        </p:nvSpPr>
        <p:spPr>
          <a:xfrm>
            <a:off x="640080" y="41148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Verifier les permissions + cross-exposure</a:t>
            </a:r>
            <a:endParaRPr lang="en-US" sz="1000" dirty="0"/>
          </a:p>
        </p:txBody>
      </p:sp>
      <p:sp>
        <p:nvSpPr>
          <p:cNvPr id="13" name="Shape 9"/>
          <p:cNvSpPr/>
          <p:nvPr/>
        </p:nvSpPr>
        <p:spPr>
          <a:xfrm>
            <a:off x="3291840" y="1463040"/>
            <a:ext cx="2651760" cy="3291840"/>
          </a:xfrm>
          <a:prstGeom prst="rect">
            <a:avLst/>
          </a:prstGeom>
          <a:solidFill>
            <a:srgbClr val="1A1D27"/>
          </a:solidFill>
          <a:ln/>
        </p:spPr>
      </p:sp>
      <p:sp>
        <p:nvSpPr>
          <p:cNvPr id="14" name="Shape 10"/>
          <p:cNvSpPr/>
          <p:nvPr/>
        </p:nvSpPr>
        <p:spPr>
          <a:xfrm>
            <a:off x="3291840" y="1463040"/>
            <a:ext cx="2651760" cy="45720"/>
          </a:xfrm>
          <a:prstGeom prst="rect">
            <a:avLst/>
          </a:prstGeom>
          <a:solidFill>
            <a:srgbClr val="E768E6"/>
          </a:solidFill>
          <a:ln/>
        </p:spPr>
      </p:sp>
      <p:pic>
        <p:nvPicPr>
          <p:cNvPr id="15" name="Image 2" descr="preencoded.png">    </p:cNvPr>
          <p:cNvPicPr>
            <a:picLocks noChangeAspect="1"/>
          </p:cNvPicPr>
          <p:nvPr/>
        </p:nvPicPr>
        <p:blipFill>
          <a:blip r:embed="rId3"/>
          <a:stretch>
            <a:fillRect/>
          </a:stretch>
        </p:blipFill>
        <p:spPr>
          <a:xfrm>
            <a:off x="4343400" y="1691640"/>
            <a:ext cx="457200" cy="457200"/>
          </a:xfrm>
          <a:prstGeom prst="rect">
            <a:avLst/>
          </a:prstGeom>
        </p:spPr>
      </p:pic>
      <p:sp>
        <p:nvSpPr>
          <p:cNvPr id="16" name="Text 11"/>
          <p:cNvSpPr/>
          <p:nvPr/>
        </p:nvSpPr>
        <p:spPr>
          <a:xfrm>
            <a:off x="3291840" y="228600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Raisonnement multi-etapes</a:t>
            </a:r>
            <a:endParaRPr lang="en-US" sz="1300" dirty="0"/>
          </a:p>
        </p:txBody>
      </p:sp>
      <p:sp>
        <p:nvSpPr>
          <p:cNvPr id="17" name="Text 12"/>
          <p:cNvSpPr/>
          <p:nvPr/>
        </p:nvSpPr>
        <p:spPr>
          <a:xfrm>
            <a:off x="3520440" y="27432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Reflechit avant de repondre</a:t>
            </a:r>
            <a:endParaRPr lang="en-US" sz="1000" dirty="0"/>
          </a:p>
        </p:txBody>
      </p:sp>
      <p:sp>
        <p:nvSpPr>
          <p:cNvPr id="18" name="Text 13"/>
          <p:cNvSpPr/>
          <p:nvPr/>
        </p:nvSpPr>
        <p:spPr>
          <a:xfrm>
            <a:off x="3520440" y="32004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Enchaine plusieurs analyses</a:t>
            </a:r>
            <a:endParaRPr lang="en-US" sz="1000" dirty="0"/>
          </a:p>
        </p:txBody>
      </p:sp>
      <p:sp>
        <p:nvSpPr>
          <p:cNvPr id="19" name="Text 14"/>
          <p:cNvSpPr/>
          <p:nvPr/>
        </p:nvSpPr>
        <p:spPr>
          <a:xfrm>
            <a:off x="3520440" y="36576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Synthetise une reponse sourcee</a:t>
            </a:r>
            <a:endParaRPr lang="en-US" sz="1000" dirty="0"/>
          </a:p>
        </p:txBody>
      </p:sp>
      <p:sp>
        <p:nvSpPr>
          <p:cNvPr id="20" name="Text 15"/>
          <p:cNvSpPr/>
          <p:nvPr/>
        </p:nvSpPr>
        <p:spPr>
          <a:xfrm>
            <a:off x="3520440" y="41148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Signale les risques critiques</a:t>
            </a:r>
            <a:endParaRPr lang="en-US" sz="1000" dirty="0"/>
          </a:p>
        </p:txBody>
      </p:sp>
      <p:sp>
        <p:nvSpPr>
          <p:cNvPr id="21" name="Shape 16"/>
          <p:cNvSpPr/>
          <p:nvPr/>
        </p:nvSpPr>
        <p:spPr>
          <a:xfrm>
            <a:off x="6172200" y="1463040"/>
            <a:ext cx="2651760" cy="3291840"/>
          </a:xfrm>
          <a:prstGeom prst="rect">
            <a:avLst/>
          </a:prstGeom>
          <a:solidFill>
            <a:srgbClr val="1A1D27"/>
          </a:solidFill>
          <a:ln/>
        </p:spPr>
      </p:sp>
      <p:sp>
        <p:nvSpPr>
          <p:cNvPr id="22" name="Shape 17"/>
          <p:cNvSpPr/>
          <p:nvPr/>
        </p:nvSpPr>
        <p:spPr>
          <a:xfrm>
            <a:off x="6172200" y="1463040"/>
            <a:ext cx="2651760" cy="45720"/>
          </a:xfrm>
          <a:prstGeom prst="rect">
            <a:avLst/>
          </a:prstGeom>
          <a:solidFill>
            <a:srgbClr val="3B82F6"/>
          </a:solidFill>
          <a:ln/>
        </p:spPr>
      </p:sp>
      <p:pic>
        <p:nvPicPr>
          <p:cNvPr id="23" name="Image 3" descr="preencoded.png">    </p:cNvPr>
          <p:cNvPicPr>
            <a:picLocks noChangeAspect="1"/>
          </p:cNvPicPr>
          <p:nvPr/>
        </p:nvPicPr>
        <p:blipFill>
          <a:blip r:embed="rId4"/>
          <a:stretch>
            <a:fillRect/>
          </a:stretch>
        </p:blipFill>
        <p:spPr>
          <a:xfrm>
            <a:off x="7223760" y="1691640"/>
            <a:ext cx="457200" cy="457200"/>
          </a:xfrm>
          <a:prstGeom prst="rect">
            <a:avLst/>
          </a:prstGeom>
        </p:spPr>
      </p:pic>
      <p:sp>
        <p:nvSpPr>
          <p:cNvPr id="24" name="Text 18"/>
          <p:cNvSpPr/>
          <p:nvPr/>
        </p:nvSpPr>
        <p:spPr>
          <a:xfrm>
            <a:off x="6172200" y="228600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Memoire hierarchique</a:t>
            </a:r>
            <a:endParaRPr lang="en-US" sz="1300" dirty="0"/>
          </a:p>
        </p:txBody>
      </p:sp>
      <p:sp>
        <p:nvSpPr>
          <p:cNvPr id="25" name="Text 19"/>
          <p:cNvSpPr/>
          <p:nvPr/>
        </p:nvSpPr>
        <p:spPr>
          <a:xfrm>
            <a:off x="6400800" y="27432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Se souvient de la conversation</a:t>
            </a:r>
            <a:endParaRPr lang="en-US" sz="1000" dirty="0"/>
          </a:p>
        </p:txBody>
      </p:sp>
      <p:sp>
        <p:nvSpPr>
          <p:cNvPr id="26" name="Text 20"/>
          <p:cNvSpPr/>
          <p:nvPr/>
        </p:nvSpPr>
        <p:spPr>
          <a:xfrm>
            <a:off x="6400800" y="32004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Resume automatique des sessions</a:t>
            </a:r>
            <a:endParaRPr lang="en-US" sz="1000" dirty="0"/>
          </a:p>
        </p:txBody>
      </p:sp>
      <p:sp>
        <p:nvSpPr>
          <p:cNvPr id="27" name="Text 21"/>
          <p:cNvSpPr/>
          <p:nvPr/>
        </p:nvSpPr>
        <p:spPr>
          <a:xfrm>
            <a:off x="6400800" y="36576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Capitalise entre les analyses</a:t>
            </a:r>
            <a:endParaRPr lang="en-US" sz="1000" dirty="0"/>
          </a:p>
        </p:txBody>
      </p:sp>
      <p:sp>
        <p:nvSpPr>
          <p:cNvPr id="28" name="Text 22"/>
          <p:cNvSpPr/>
          <p:nvPr/>
        </p:nvSpPr>
        <p:spPr>
          <a:xfrm>
            <a:off x="6400800" y="4114800"/>
            <a:ext cx="2194560" cy="411480"/>
          </a:xfrm>
          <a:prstGeom prst="rect">
            <a:avLst/>
          </a:prstGeom>
          <a:noFill/>
          <a:ln/>
        </p:spPr>
        <p:txBody>
          <a:bodyPr wrap="square" lIns="0" tIns="0" rIns="0" bIns="0" rtlCol="0" anchor="ctr"/>
          <a:lstStyle/>
          <a:p>
            <a:pPr marL="342900" indent="-342900">
              <a:buSzPct val="100000"/>
              <a:buChar char="•"/>
            </a:pPr>
            <a:r>
              <a:rPr lang="en-US" sz="1000" dirty="0">
                <a:solidFill>
                  <a:srgbClr val="9CA3AF"/>
                </a:solidFill>
                <a:latin typeface="Calibri" pitchFamily="34" charset="0"/>
                <a:ea typeface="Calibri" pitchFamily="34" charset="-122"/>
                <a:cs typeface="Calibri" pitchFamily="34" charset="-120"/>
              </a:rPr>
              <a:t>Partage les decouvertes entre sessions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Ce que personne d'autre ne fait</a:t>
            </a:r>
            <a:endParaRPr lang="en-US" sz="2600" dirty="0"/>
          </a:p>
        </p:txBody>
      </p:sp>
      <p:sp>
        <p:nvSpPr>
          <p:cNvPr id="4" name="Shape 1"/>
          <p:cNvSpPr/>
          <p:nvPr/>
        </p:nvSpPr>
        <p:spPr>
          <a:xfrm>
            <a:off x="137160" y="960120"/>
            <a:ext cx="1645920" cy="548640"/>
          </a:xfrm>
          <a:prstGeom prst="rect">
            <a:avLst/>
          </a:prstGeom>
          <a:solidFill>
            <a:srgbClr val="1F2937"/>
          </a:solidFill>
          <a:ln/>
        </p:spPr>
      </p:sp>
      <p:sp>
        <p:nvSpPr>
          <p:cNvPr id="5" name="Text 2"/>
          <p:cNvSpPr/>
          <p:nvPr/>
        </p:nvSpPr>
        <p:spPr>
          <a:xfrm>
            <a:off x="137160" y="960120"/>
            <a:ext cx="1645920" cy="548640"/>
          </a:xfrm>
          <a:prstGeom prst="rect">
            <a:avLst/>
          </a:prstGeom>
          <a:noFill/>
          <a:ln/>
        </p:spPr>
        <p:txBody>
          <a:bodyPr wrap="square" lIns="0" tIns="0" rIns="0" bIns="0" rtlCol="0" anchor="ctr"/>
          <a:lstStyle/>
          <a:p>
            <a:pPr algn="ctr" indent="0" marL="0">
              <a:buNone/>
            </a:pPr>
            <a:endParaRPr lang="en-US" sz="800" dirty="0"/>
          </a:p>
        </p:txBody>
      </p:sp>
      <p:sp>
        <p:nvSpPr>
          <p:cNvPr id="6" name="Shape 3"/>
          <p:cNvSpPr/>
          <p:nvPr/>
        </p:nvSpPr>
        <p:spPr>
          <a:xfrm>
            <a:off x="1783080" y="960120"/>
            <a:ext cx="1143000" cy="548640"/>
          </a:xfrm>
          <a:prstGeom prst="rect">
            <a:avLst/>
          </a:prstGeom>
          <a:solidFill>
            <a:srgbClr val="1F2937"/>
          </a:solidFill>
          <a:ln/>
        </p:spPr>
      </p:sp>
      <p:sp>
        <p:nvSpPr>
          <p:cNvPr id="7" name="Text 4"/>
          <p:cNvSpPr/>
          <p:nvPr/>
        </p:nvSpPr>
        <p:spPr>
          <a:xfrm>
            <a:off x="1783080" y="960120"/>
            <a:ext cx="1143000" cy="548640"/>
          </a:xfrm>
          <a:prstGeom prst="rect">
            <a:avLst/>
          </a:prstGeom>
          <a:noFill/>
          <a:ln/>
        </p:spPr>
        <p:txBody>
          <a:bodyPr wrap="square" lIns="0" tIns="0" rIns="0" bIns="0" rtlCol="0" anchor="ctr"/>
          <a:lstStyle/>
          <a:p>
            <a:pPr algn="ctr" indent="0" marL="0">
              <a:buNone/>
            </a:pPr>
            <a:r>
              <a:rPr lang="en-US" sz="800" b="1" dirty="0">
                <a:solidFill>
                  <a:srgbClr val="9CA3AF"/>
                </a:solidFill>
                <a:latin typeface="Arial" pitchFamily="34" charset="0"/>
                <a:ea typeface="Arial" pitchFamily="34" charset="-122"/>
                <a:cs typeface="Arial" pitchFamily="34" charset="-120"/>
              </a:rPr>
              <a:t>Analyse</a:t>
            </a:r>
            <a:endParaRPr lang="en-US" sz="800" dirty="0"/>
          </a:p>
          <a:p>
            <a:pPr algn="ctr" indent="0" marL="0">
              <a:buNone/>
            </a:pPr>
            <a:r>
              <a:rPr lang="en-US" sz="800" b="1" dirty="0">
                <a:solidFill>
                  <a:srgbClr val="9CA3AF"/>
                </a:solidFill>
                <a:latin typeface="Arial" pitchFamily="34" charset="0"/>
                <a:ea typeface="Arial" pitchFamily="34" charset="-122"/>
                <a:cs typeface="Arial" pitchFamily="34" charset="-120"/>
              </a:rPr>
              <a:t>independante</a:t>
            </a:r>
            <a:endParaRPr lang="en-US" sz="800" dirty="0"/>
          </a:p>
        </p:txBody>
      </p:sp>
      <p:sp>
        <p:nvSpPr>
          <p:cNvPr id="8" name="Shape 5"/>
          <p:cNvSpPr/>
          <p:nvPr/>
        </p:nvSpPr>
        <p:spPr>
          <a:xfrm>
            <a:off x="2926080" y="960120"/>
            <a:ext cx="1143000" cy="548640"/>
          </a:xfrm>
          <a:prstGeom prst="rect">
            <a:avLst/>
          </a:prstGeom>
          <a:solidFill>
            <a:srgbClr val="1F2937"/>
          </a:solidFill>
          <a:ln/>
        </p:spPr>
      </p:sp>
      <p:sp>
        <p:nvSpPr>
          <p:cNvPr id="9" name="Text 6"/>
          <p:cNvSpPr/>
          <p:nvPr/>
        </p:nvSpPr>
        <p:spPr>
          <a:xfrm>
            <a:off x="2926080" y="960120"/>
            <a:ext cx="1143000" cy="548640"/>
          </a:xfrm>
          <a:prstGeom prst="rect">
            <a:avLst/>
          </a:prstGeom>
          <a:noFill/>
          <a:ln/>
        </p:spPr>
        <p:txBody>
          <a:bodyPr wrap="square" lIns="0" tIns="0" rIns="0" bIns="0" rtlCol="0" anchor="ctr"/>
          <a:lstStyle/>
          <a:p>
            <a:pPr algn="ctr" indent="0" marL="0">
              <a:buNone/>
            </a:pPr>
            <a:r>
              <a:rPr lang="en-US" sz="800" b="1" dirty="0">
                <a:solidFill>
                  <a:srgbClr val="9CA3AF"/>
                </a:solidFill>
                <a:latin typeface="Arial" pitchFamily="34" charset="0"/>
                <a:ea typeface="Arial" pitchFamily="34" charset="-122"/>
                <a:cs typeface="Arial" pitchFamily="34" charset="-120"/>
              </a:rPr>
              <a:t>Detection</a:t>
            </a:r>
            <a:endParaRPr lang="en-US" sz="800" dirty="0"/>
          </a:p>
          <a:p>
            <a:pPr algn="ctr" indent="0" marL="0">
              <a:buNone/>
            </a:pPr>
            <a:r>
              <a:rPr lang="en-US" sz="800" b="1" dirty="0">
                <a:solidFill>
                  <a:srgbClr val="9CA3AF"/>
                </a:solidFill>
                <a:latin typeface="Arial" pitchFamily="34" charset="0"/>
                <a:ea typeface="Arial" pitchFamily="34" charset="-122"/>
                <a:cs typeface="Arial" pitchFamily="34" charset="-120"/>
              </a:rPr>
              <a:t>integrations</a:t>
            </a:r>
            <a:endParaRPr lang="en-US" sz="800" dirty="0"/>
          </a:p>
        </p:txBody>
      </p:sp>
      <p:sp>
        <p:nvSpPr>
          <p:cNvPr id="10" name="Shape 7"/>
          <p:cNvSpPr/>
          <p:nvPr/>
        </p:nvSpPr>
        <p:spPr>
          <a:xfrm>
            <a:off x="4069080" y="960120"/>
            <a:ext cx="1143000" cy="548640"/>
          </a:xfrm>
          <a:prstGeom prst="rect">
            <a:avLst/>
          </a:prstGeom>
          <a:solidFill>
            <a:srgbClr val="1F2937"/>
          </a:solidFill>
          <a:ln/>
        </p:spPr>
      </p:sp>
      <p:sp>
        <p:nvSpPr>
          <p:cNvPr id="11" name="Text 8"/>
          <p:cNvSpPr/>
          <p:nvPr/>
        </p:nvSpPr>
        <p:spPr>
          <a:xfrm>
            <a:off x="4069080" y="960120"/>
            <a:ext cx="1143000" cy="548640"/>
          </a:xfrm>
          <a:prstGeom prst="rect">
            <a:avLst/>
          </a:prstGeom>
          <a:noFill/>
          <a:ln/>
        </p:spPr>
        <p:txBody>
          <a:bodyPr wrap="square" lIns="0" tIns="0" rIns="0" bIns="0" rtlCol="0" anchor="ctr"/>
          <a:lstStyle/>
          <a:p>
            <a:pPr algn="ctr" indent="0" marL="0">
              <a:buNone/>
            </a:pPr>
            <a:r>
              <a:rPr lang="en-US" sz="800" b="1" dirty="0">
                <a:solidFill>
                  <a:srgbClr val="9CA3AF"/>
                </a:solidFill>
                <a:latin typeface="Arial" pitchFamily="34" charset="0"/>
                <a:ea typeface="Arial" pitchFamily="34" charset="-122"/>
                <a:cs typeface="Arial" pitchFamily="34" charset="-120"/>
              </a:rPr>
              <a:t>Failles de</a:t>
            </a:r>
            <a:endParaRPr lang="en-US" sz="800" dirty="0"/>
          </a:p>
          <a:p>
            <a:pPr algn="ctr" indent="0" marL="0">
              <a:buNone/>
            </a:pPr>
            <a:r>
              <a:rPr lang="en-US" sz="800" b="1" dirty="0">
                <a:solidFill>
                  <a:srgbClr val="9CA3AF"/>
                </a:solidFill>
                <a:latin typeface="Arial" pitchFamily="34" charset="0"/>
                <a:ea typeface="Arial" pitchFamily="34" charset="-122"/>
                <a:cs typeface="Arial" pitchFamily="34" charset="-120"/>
              </a:rPr>
              <a:t>securite code</a:t>
            </a:r>
            <a:endParaRPr lang="en-US" sz="800" dirty="0"/>
          </a:p>
        </p:txBody>
      </p:sp>
      <p:sp>
        <p:nvSpPr>
          <p:cNvPr id="12" name="Shape 9"/>
          <p:cNvSpPr/>
          <p:nvPr/>
        </p:nvSpPr>
        <p:spPr>
          <a:xfrm>
            <a:off x="5212080" y="960120"/>
            <a:ext cx="1143000" cy="548640"/>
          </a:xfrm>
          <a:prstGeom prst="rect">
            <a:avLst/>
          </a:prstGeom>
          <a:solidFill>
            <a:srgbClr val="1F2937"/>
          </a:solidFill>
          <a:ln/>
        </p:spPr>
      </p:sp>
      <p:sp>
        <p:nvSpPr>
          <p:cNvPr id="13" name="Text 10"/>
          <p:cNvSpPr/>
          <p:nvPr/>
        </p:nvSpPr>
        <p:spPr>
          <a:xfrm>
            <a:off x="5212080" y="960120"/>
            <a:ext cx="1143000" cy="548640"/>
          </a:xfrm>
          <a:prstGeom prst="rect">
            <a:avLst/>
          </a:prstGeom>
          <a:noFill/>
          <a:ln/>
        </p:spPr>
        <p:txBody>
          <a:bodyPr wrap="square" lIns="0" tIns="0" rIns="0" bIns="0" rtlCol="0" anchor="ctr"/>
          <a:lstStyle/>
          <a:p>
            <a:pPr algn="ctr" indent="0" marL="0">
              <a:buNone/>
            </a:pPr>
            <a:r>
              <a:rPr lang="en-US" sz="800" b="1" dirty="0">
                <a:solidFill>
                  <a:srgbClr val="9CA3AF"/>
                </a:solidFill>
                <a:latin typeface="Arial" pitchFamily="34" charset="0"/>
                <a:ea typeface="Arial" pitchFamily="34" charset="-122"/>
                <a:cs typeface="Arial" pitchFamily="34" charset="-120"/>
              </a:rPr>
              <a:t>Mesures</a:t>
            </a:r>
            <a:endParaRPr lang="en-US" sz="800" dirty="0"/>
          </a:p>
          <a:p>
            <a:pPr algn="ctr" indent="0" marL="0">
              <a:buNone/>
            </a:pPr>
            <a:r>
              <a:rPr lang="en-US" sz="800" b="1" dirty="0">
                <a:solidFill>
                  <a:srgbClr val="9CA3AF"/>
                </a:solidFill>
                <a:latin typeface="Arial" pitchFamily="34" charset="0"/>
                <a:ea typeface="Arial" pitchFamily="34" charset="-122"/>
                <a:cs typeface="Arial" pitchFamily="34" charset="-120"/>
              </a:rPr>
              <a:t>reelles</a:t>
            </a:r>
            <a:endParaRPr lang="en-US" sz="800" dirty="0"/>
          </a:p>
        </p:txBody>
      </p:sp>
      <p:sp>
        <p:nvSpPr>
          <p:cNvPr id="14" name="Shape 11"/>
          <p:cNvSpPr/>
          <p:nvPr/>
        </p:nvSpPr>
        <p:spPr>
          <a:xfrm>
            <a:off x="6355080" y="960120"/>
            <a:ext cx="1143000" cy="548640"/>
          </a:xfrm>
          <a:prstGeom prst="rect">
            <a:avLst/>
          </a:prstGeom>
          <a:solidFill>
            <a:srgbClr val="1F2937"/>
          </a:solidFill>
          <a:ln/>
        </p:spPr>
      </p:sp>
      <p:sp>
        <p:nvSpPr>
          <p:cNvPr id="15" name="Text 12"/>
          <p:cNvSpPr/>
          <p:nvPr/>
        </p:nvSpPr>
        <p:spPr>
          <a:xfrm>
            <a:off x="6355080" y="960120"/>
            <a:ext cx="1143000" cy="548640"/>
          </a:xfrm>
          <a:prstGeom prst="rect">
            <a:avLst/>
          </a:prstGeom>
          <a:noFill/>
          <a:ln/>
        </p:spPr>
        <p:txBody>
          <a:bodyPr wrap="square" lIns="0" tIns="0" rIns="0" bIns="0" rtlCol="0" anchor="ctr"/>
          <a:lstStyle/>
          <a:p>
            <a:pPr algn="ctr" indent="0" marL="0">
              <a:buNone/>
            </a:pPr>
            <a:r>
              <a:rPr lang="en-US" sz="800" b="1" dirty="0">
                <a:solidFill>
                  <a:srgbClr val="9CA3AF"/>
                </a:solidFill>
                <a:latin typeface="Arial" pitchFamily="34" charset="0"/>
                <a:ea typeface="Arial" pitchFamily="34" charset="-122"/>
                <a:cs typeface="Arial" pitchFamily="34" charset="-120"/>
              </a:rPr>
              <a:t>Agent</a:t>
            </a:r>
            <a:endParaRPr lang="en-US" sz="800" dirty="0"/>
          </a:p>
          <a:p>
            <a:pPr algn="ctr" indent="0" marL="0">
              <a:buNone/>
            </a:pPr>
            <a:r>
              <a:rPr lang="en-US" sz="800" b="1" dirty="0">
                <a:solidFill>
                  <a:srgbClr val="9CA3AF"/>
                </a:solidFill>
                <a:latin typeface="Arial" pitchFamily="34" charset="0"/>
                <a:ea typeface="Arial" pitchFamily="34" charset="-122"/>
                <a:cs typeface="Arial" pitchFamily="34" charset="-120"/>
              </a:rPr>
              <a:t>IA</a:t>
            </a:r>
            <a:endParaRPr lang="en-US" sz="800" dirty="0"/>
          </a:p>
        </p:txBody>
      </p:sp>
      <p:sp>
        <p:nvSpPr>
          <p:cNvPr id="16" name="Shape 13"/>
          <p:cNvSpPr/>
          <p:nvPr/>
        </p:nvSpPr>
        <p:spPr>
          <a:xfrm>
            <a:off x="137160" y="1508760"/>
            <a:ext cx="1645920" cy="502920"/>
          </a:xfrm>
          <a:prstGeom prst="rect">
            <a:avLst/>
          </a:prstGeom>
          <a:solidFill>
            <a:srgbClr val="1A1D27"/>
          </a:solidFill>
          <a:ln/>
        </p:spPr>
      </p:sp>
      <p:sp>
        <p:nvSpPr>
          <p:cNvPr id="17" name="Text 14"/>
          <p:cNvSpPr/>
          <p:nvPr/>
        </p:nvSpPr>
        <p:spPr>
          <a:xfrm>
            <a:off x="228600" y="1508760"/>
            <a:ext cx="1463040" cy="50292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Sweep</a:t>
            </a:r>
            <a:endParaRPr lang="en-US" sz="1100" dirty="0"/>
          </a:p>
        </p:txBody>
      </p:sp>
      <p:sp>
        <p:nvSpPr>
          <p:cNvPr id="18" name="Shape 15"/>
          <p:cNvSpPr/>
          <p:nvPr/>
        </p:nvSpPr>
        <p:spPr>
          <a:xfrm>
            <a:off x="1783080" y="1508760"/>
            <a:ext cx="1143000" cy="502920"/>
          </a:xfrm>
          <a:prstGeom prst="rect">
            <a:avLst/>
          </a:prstGeom>
          <a:solidFill>
            <a:srgbClr val="1A1D27"/>
          </a:solidFill>
          <a:ln/>
        </p:spPr>
      </p:sp>
      <p:sp>
        <p:nvSpPr>
          <p:cNvPr id="19" name="Text 16"/>
          <p:cNvSpPr/>
          <p:nvPr/>
        </p:nvSpPr>
        <p:spPr>
          <a:xfrm>
            <a:off x="1783080" y="150876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20" name="Shape 17"/>
          <p:cNvSpPr/>
          <p:nvPr/>
        </p:nvSpPr>
        <p:spPr>
          <a:xfrm>
            <a:off x="2926080" y="1508760"/>
            <a:ext cx="1143000" cy="502920"/>
          </a:xfrm>
          <a:prstGeom prst="rect">
            <a:avLst/>
          </a:prstGeom>
          <a:solidFill>
            <a:srgbClr val="1A1D27"/>
          </a:solidFill>
          <a:ln/>
        </p:spPr>
      </p:sp>
      <p:sp>
        <p:nvSpPr>
          <p:cNvPr id="21" name="Text 18"/>
          <p:cNvSpPr/>
          <p:nvPr/>
        </p:nvSpPr>
        <p:spPr>
          <a:xfrm>
            <a:off x="2926080" y="150876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22" name="Shape 19"/>
          <p:cNvSpPr/>
          <p:nvPr/>
        </p:nvSpPr>
        <p:spPr>
          <a:xfrm>
            <a:off x="4069080" y="1508760"/>
            <a:ext cx="1143000" cy="502920"/>
          </a:xfrm>
          <a:prstGeom prst="rect">
            <a:avLst/>
          </a:prstGeom>
          <a:solidFill>
            <a:srgbClr val="1A1D27"/>
          </a:solidFill>
          <a:ln/>
        </p:spPr>
      </p:sp>
      <p:sp>
        <p:nvSpPr>
          <p:cNvPr id="23" name="Text 20"/>
          <p:cNvSpPr/>
          <p:nvPr/>
        </p:nvSpPr>
        <p:spPr>
          <a:xfrm>
            <a:off x="4069080" y="150876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24" name="Shape 21"/>
          <p:cNvSpPr/>
          <p:nvPr/>
        </p:nvSpPr>
        <p:spPr>
          <a:xfrm>
            <a:off x="5212080" y="1508760"/>
            <a:ext cx="1143000" cy="502920"/>
          </a:xfrm>
          <a:prstGeom prst="rect">
            <a:avLst/>
          </a:prstGeom>
          <a:solidFill>
            <a:srgbClr val="1A1D27"/>
          </a:solidFill>
          <a:ln/>
        </p:spPr>
      </p:sp>
      <p:sp>
        <p:nvSpPr>
          <p:cNvPr id="25" name="Text 22"/>
          <p:cNvSpPr/>
          <p:nvPr/>
        </p:nvSpPr>
        <p:spPr>
          <a:xfrm>
            <a:off x="5212080" y="150876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26" name="Shape 23"/>
          <p:cNvSpPr/>
          <p:nvPr/>
        </p:nvSpPr>
        <p:spPr>
          <a:xfrm>
            <a:off x="6355080" y="1508760"/>
            <a:ext cx="1143000" cy="502920"/>
          </a:xfrm>
          <a:prstGeom prst="rect">
            <a:avLst/>
          </a:prstGeom>
          <a:solidFill>
            <a:srgbClr val="1A1D27"/>
          </a:solidFill>
          <a:ln/>
        </p:spPr>
      </p:sp>
      <p:sp>
        <p:nvSpPr>
          <p:cNvPr id="27" name="Text 24"/>
          <p:cNvSpPr/>
          <p:nvPr/>
        </p:nvSpPr>
        <p:spPr>
          <a:xfrm>
            <a:off x="6355080" y="150876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28" name="Shape 25"/>
          <p:cNvSpPr/>
          <p:nvPr/>
        </p:nvSpPr>
        <p:spPr>
          <a:xfrm>
            <a:off x="137160" y="2057400"/>
            <a:ext cx="1645920" cy="502920"/>
          </a:xfrm>
          <a:prstGeom prst="rect">
            <a:avLst/>
          </a:prstGeom>
          <a:solidFill>
            <a:srgbClr val="1A1D27"/>
          </a:solidFill>
          <a:ln/>
        </p:spPr>
      </p:sp>
      <p:sp>
        <p:nvSpPr>
          <p:cNvPr id="29" name="Text 26"/>
          <p:cNvSpPr/>
          <p:nvPr/>
        </p:nvSpPr>
        <p:spPr>
          <a:xfrm>
            <a:off x="228600" y="2057400"/>
            <a:ext cx="1463040" cy="50292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Hubbl</a:t>
            </a:r>
            <a:endParaRPr lang="en-US" sz="1100" dirty="0"/>
          </a:p>
        </p:txBody>
      </p:sp>
      <p:sp>
        <p:nvSpPr>
          <p:cNvPr id="30" name="Shape 27"/>
          <p:cNvSpPr/>
          <p:nvPr/>
        </p:nvSpPr>
        <p:spPr>
          <a:xfrm>
            <a:off x="1783080" y="2057400"/>
            <a:ext cx="1143000" cy="502920"/>
          </a:xfrm>
          <a:prstGeom prst="rect">
            <a:avLst/>
          </a:prstGeom>
          <a:solidFill>
            <a:srgbClr val="1A1D27"/>
          </a:solidFill>
          <a:ln/>
        </p:spPr>
      </p:sp>
      <p:sp>
        <p:nvSpPr>
          <p:cNvPr id="31" name="Text 28"/>
          <p:cNvSpPr/>
          <p:nvPr/>
        </p:nvSpPr>
        <p:spPr>
          <a:xfrm>
            <a:off x="1783080" y="205740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32" name="Shape 29"/>
          <p:cNvSpPr/>
          <p:nvPr/>
        </p:nvSpPr>
        <p:spPr>
          <a:xfrm>
            <a:off x="2926080" y="2057400"/>
            <a:ext cx="1143000" cy="502920"/>
          </a:xfrm>
          <a:prstGeom prst="rect">
            <a:avLst/>
          </a:prstGeom>
          <a:solidFill>
            <a:srgbClr val="1A1D27"/>
          </a:solidFill>
          <a:ln/>
        </p:spPr>
      </p:sp>
      <p:sp>
        <p:nvSpPr>
          <p:cNvPr id="33" name="Text 30"/>
          <p:cNvSpPr/>
          <p:nvPr/>
        </p:nvSpPr>
        <p:spPr>
          <a:xfrm>
            <a:off x="2926080" y="205740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34" name="Shape 31"/>
          <p:cNvSpPr/>
          <p:nvPr/>
        </p:nvSpPr>
        <p:spPr>
          <a:xfrm>
            <a:off x="4069080" y="2057400"/>
            <a:ext cx="1143000" cy="502920"/>
          </a:xfrm>
          <a:prstGeom prst="rect">
            <a:avLst/>
          </a:prstGeom>
          <a:solidFill>
            <a:srgbClr val="1A1D27"/>
          </a:solidFill>
          <a:ln/>
        </p:spPr>
      </p:sp>
      <p:sp>
        <p:nvSpPr>
          <p:cNvPr id="35" name="Text 32"/>
          <p:cNvSpPr/>
          <p:nvPr/>
        </p:nvSpPr>
        <p:spPr>
          <a:xfrm>
            <a:off x="4069080" y="205740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36" name="Shape 33"/>
          <p:cNvSpPr/>
          <p:nvPr/>
        </p:nvSpPr>
        <p:spPr>
          <a:xfrm>
            <a:off x="5212080" y="2057400"/>
            <a:ext cx="1143000" cy="502920"/>
          </a:xfrm>
          <a:prstGeom prst="rect">
            <a:avLst/>
          </a:prstGeom>
          <a:solidFill>
            <a:srgbClr val="1A1D27"/>
          </a:solidFill>
          <a:ln/>
        </p:spPr>
      </p:sp>
      <p:sp>
        <p:nvSpPr>
          <p:cNvPr id="37" name="Text 34"/>
          <p:cNvSpPr/>
          <p:nvPr/>
        </p:nvSpPr>
        <p:spPr>
          <a:xfrm>
            <a:off x="5212080" y="205740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38" name="Shape 35"/>
          <p:cNvSpPr/>
          <p:nvPr/>
        </p:nvSpPr>
        <p:spPr>
          <a:xfrm>
            <a:off x="6355080" y="2057400"/>
            <a:ext cx="1143000" cy="502920"/>
          </a:xfrm>
          <a:prstGeom prst="rect">
            <a:avLst/>
          </a:prstGeom>
          <a:solidFill>
            <a:srgbClr val="1A1D27"/>
          </a:solidFill>
          <a:ln/>
        </p:spPr>
      </p:sp>
      <p:sp>
        <p:nvSpPr>
          <p:cNvPr id="39" name="Text 36"/>
          <p:cNvSpPr/>
          <p:nvPr/>
        </p:nvSpPr>
        <p:spPr>
          <a:xfrm>
            <a:off x="6355080" y="205740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40" name="Shape 37"/>
          <p:cNvSpPr/>
          <p:nvPr/>
        </p:nvSpPr>
        <p:spPr>
          <a:xfrm>
            <a:off x="137160" y="2606040"/>
            <a:ext cx="1645920" cy="502920"/>
          </a:xfrm>
          <a:prstGeom prst="rect">
            <a:avLst/>
          </a:prstGeom>
          <a:solidFill>
            <a:srgbClr val="1A1D27"/>
          </a:solidFill>
          <a:ln/>
        </p:spPr>
      </p:sp>
      <p:sp>
        <p:nvSpPr>
          <p:cNvPr id="41" name="Text 38"/>
          <p:cNvSpPr/>
          <p:nvPr/>
        </p:nvSpPr>
        <p:spPr>
          <a:xfrm>
            <a:off x="228600" y="2606040"/>
            <a:ext cx="1463040" cy="50292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Elements.cloud</a:t>
            </a:r>
            <a:endParaRPr lang="en-US" sz="1100" dirty="0"/>
          </a:p>
        </p:txBody>
      </p:sp>
      <p:sp>
        <p:nvSpPr>
          <p:cNvPr id="42" name="Shape 39"/>
          <p:cNvSpPr/>
          <p:nvPr/>
        </p:nvSpPr>
        <p:spPr>
          <a:xfrm>
            <a:off x="1783080" y="2606040"/>
            <a:ext cx="1143000" cy="502920"/>
          </a:xfrm>
          <a:prstGeom prst="rect">
            <a:avLst/>
          </a:prstGeom>
          <a:solidFill>
            <a:srgbClr val="1A1D27"/>
          </a:solidFill>
          <a:ln/>
        </p:spPr>
      </p:sp>
      <p:sp>
        <p:nvSpPr>
          <p:cNvPr id="43" name="Text 40"/>
          <p:cNvSpPr/>
          <p:nvPr/>
        </p:nvSpPr>
        <p:spPr>
          <a:xfrm>
            <a:off x="1783080" y="260604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44" name="Shape 41"/>
          <p:cNvSpPr/>
          <p:nvPr/>
        </p:nvSpPr>
        <p:spPr>
          <a:xfrm>
            <a:off x="2926080" y="2606040"/>
            <a:ext cx="1143000" cy="502920"/>
          </a:xfrm>
          <a:prstGeom prst="rect">
            <a:avLst/>
          </a:prstGeom>
          <a:solidFill>
            <a:srgbClr val="1A1D27"/>
          </a:solidFill>
          <a:ln/>
        </p:spPr>
      </p:sp>
      <p:sp>
        <p:nvSpPr>
          <p:cNvPr id="45" name="Text 42"/>
          <p:cNvSpPr/>
          <p:nvPr/>
        </p:nvSpPr>
        <p:spPr>
          <a:xfrm>
            <a:off x="2926080" y="260604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46" name="Shape 43"/>
          <p:cNvSpPr/>
          <p:nvPr/>
        </p:nvSpPr>
        <p:spPr>
          <a:xfrm>
            <a:off x="4069080" y="2606040"/>
            <a:ext cx="1143000" cy="502920"/>
          </a:xfrm>
          <a:prstGeom prst="rect">
            <a:avLst/>
          </a:prstGeom>
          <a:solidFill>
            <a:srgbClr val="1A1D27"/>
          </a:solidFill>
          <a:ln/>
        </p:spPr>
      </p:sp>
      <p:sp>
        <p:nvSpPr>
          <p:cNvPr id="47" name="Text 44"/>
          <p:cNvSpPr/>
          <p:nvPr/>
        </p:nvSpPr>
        <p:spPr>
          <a:xfrm>
            <a:off x="4069080" y="260604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48" name="Shape 45"/>
          <p:cNvSpPr/>
          <p:nvPr/>
        </p:nvSpPr>
        <p:spPr>
          <a:xfrm>
            <a:off x="5212080" y="2606040"/>
            <a:ext cx="1143000" cy="502920"/>
          </a:xfrm>
          <a:prstGeom prst="rect">
            <a:avLst/>
          </a:prstGeom>
          <a:solidFill>
            <a:srgbClr val="1A1D27"/>
          </a:solidFill>
          <a:ln/>
        </p:spPr>
      </p:sp>
      <p:sp>
        <p:nvSpPr>
          <p:cNvPr id="49" name="Text 46"/>
          <p:cNvSpPr/>
          <p:nvPr/>
        </p:nvSpPr>
        <p:spPr>
          <a:xfrm>
            <a:off x="5212080" y="260604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50" name="Shape 47"/>
          <p:cNvSpPr/>
          <p:nvPr/>
        </p:nvSpPr>
        <p:spPr>
          <a:xfrm>
            <a:off x="6355080" y="2606040"/>
            <a:ext cx="1143000" cy="502920"/>
          </a:xfrm>
          <a:prstGeom prst="rect">
            <a:avLst/>
          </a:prstGeom>
          <a:solidFill>
            <a:srgbClr val="1A1D27"/>
          </a:solidFill>
          <a:ln/>
        </p:spPr>
      </p:sp>
      <p:sp>
        <p:nvSpPr>
          <p:cNvPr id="51" name="Text 48"/>
          <p:cNvSpPr/>
          <p:nvPr/>
        </p:nvSpPr>
        <p:spPr>
          <a:xfrm>
            <a:off x="6355080" y="260604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52" name="Shape 49"/>
          <p:cNvSpPr/>
          <p:nvPr/>
        </p:nvSpPr>
        <p:spPr>
          <a:xfrm>
            <a:off x="137160" y="3154680"/>
            <a:ext cx="1645920" cy="502920"/>
          </a:xfrm>
          <a:prstGeom prst="rect">
            <a:avLst/>
          </a:prstGeom>
          <a:solidFill>
            <a:srgbClr val="1A1D27"/>
          </a:solidFill>
          <a:ln/>
        </p:spPr>
      </p:sp>
      <p:sp>
        <p:nvSpPr>
          <p:cNvPr id="53" name="Text 50"/>
          <p:cNvSpPr/>
          <p:nvPr/>
        </p:nvSpPr>
        <p:spPr>
          <a:xfrm>
            <a:off x="228600" y="3154680"/>
            <a:ext cx="1463040" cy="50292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HappySoup</a:t>
            </a:r>
            <a:endParaRPr lang="en-US" sz="1100" dirty="0"/>
          </a:p>
        </p:txBody>
      </p:sp>
      <p:sp>
        <p:nvSpPr>
          <p:cNvPr id="54" name="Shape 51"/>
          <p:cNvSpPr/>
          <p:nvPr/>
        </p:nvSpPr>
        <p:spPr>
          <a:xfrm>
            <a:off x="1783080" y="3154680"/>
            <a:ext cx="1143000" cy="502920"/>
          </a:xfrm>
          <a:prstGeom prst="rect">
            <a:avLst/>
          </a:prstGeom>
          <a:solidFill>
            <a:srgbClr val="1A1D27"/>
          </a:solidFill>
          <a:ln/>
        </p:spPr>
      </p:sp>
      <p:sp>
        <p:nvSpPr>
          <p:cNvPr id="55" name="Text 52"/>
          <p:cNvSpPr/>
          <p:nvPr/>
        </p:nvSpPr>
        <p:spPr>
          <a:xfrm>
            <a:off x="1783080" y="315468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56" name="Shape 53"/>
          <p:cNvSpPr/>
          <p:nvPr/>
        </p:nvSpPr>
        <p:spPr>
          <a:xfrm>
            <a:off x="2926080" y="3154680"/>
            <a:ext cx="1143000" cy="502920"/>
          </a:xfrm>
          <a:prstGeom prst="rect">
            <a:avLst/>
          </a:prstGeom>
          <a:solidFill>
            <a:srgbClr val="1A1D27"/>
          </a:solidFill>
          <a:ln/>
        </p:spPr>
      </p:sp>
      <p:sp>
        <p:nvSpPr>
          <p:cNvPr id="57" name="Text 54"/>
          <p:cNvSpPr/>
          <p:nvPr/>
        </p:nvSpPr>
        <p:spPr>
          <a:xfrm>
            <a:off x="2926080" y="315468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58" name="Shape 55"/>
          <p:cNvSpPr/>
          <p:nvPr/>
        </p:nvSpPr>
        <p:spPr>
          <a:xfrm>
            <a:off x="4069080" y="3154680"/>
            <a:ext cx="1143000" cy="502920"/>
          </a:xfrm>
          <a:prstGeom prst="rect">
            <a:avLst/>
          </a:prstGeom>
          <a:solidFill>
            <a:srgbClr val="1A1D27"/>
          </a:solidFill>
          <a:ln/>
        </p:spPr>
      </p:sp>
      <p:sp>
        <p:nvSpPr>
          <p:cNvPr id="59" name="Text 56"/>
          <p:cNvSpPr/>
          <p:nvPr/>
        </p:nvSpPr>
        <p:spPr>
          <a:xfrm>
            <a:off x="4069080" y="315468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60" name="Shape 57"/>
          <p:cNvSpPr/>
          <p:nvPr/>
        </p:nvSpPr>
        <p:spPr>
          <a:xfrm>
            <a:off x="5212080" y="3154680"/>
            <a:ext cx="1143000" cy="502920"/>
          </a:xfrm>
          <a:prstGeom prst="rect">
            <a:avLst/>
          </a:prstGeom>
          <a:solidFill>
            <a:srgbClr val="1A1D27"/>
          </a:solidFill>
          <a:ln/>
        </p:spPr>
      </p:sp>
      <p:sp>
        <p:nvSpPr>
          <p:cNvPr id="61" name="Text 58"/>
          <p:cNvSpPr/>
          <p:nvPr/>
        </p:nvSpPr>
        <p:spPr>
          <a:xfrm>
            <a:off x="5212080" y="315468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62" name="Shape 59"/>
          <p:cNvSpPr/>
          <p:nvPr/>
        </p:nvSpPr>
        <p:spPr>
          <a:xfrm>
            <a:off x="6355080" y="3154680"/>
            <a:ext cx="1143000" cy="502920"/>
          </a:xfrm>
          <a:prstGeom prst="rect">
            <a:avLst/>
          </a:prstGeom>
          <a:solidFill>
            <a:srgbClr val="1A1D27"/>
          </a:solidFill>
          <a:ln/>
        </p:spPr>
      </p:sp>
      <p:sp>
        <p:nvSpPr>
          <p:cNvPr id="63" name="Text 60"/>
          <p:cNvSpPr/>
          <p:nvPr/>
        </p:nvSpPr>
        <p:spPr>
          <a:xfrm>
            <a:off x="6355080" y="3154680"/>
            <a:ext cx="1143000" cy="502920"/>
          </a:xfrm>
          <a:prstGeom prst="rect">
            <a:avLst/>
          </a:prstGeom>
          <a:noFill/>
          <a:ln/>
        </p:spPr>
        <p:txBody>
          <a:bodyPr wrap="square" lIns="0" tIns="0" rIns="0" bIns="0" rtlCol="0" anchor="ctr"/>
          <a:lstStyle/>
          <a:p>
            <a:pPr algn="ctr" indent="0" marL="0">
              <a:buNone/>
            </a:pPr>
            <a:r>
              <a:rPr lang="en-US" sz="1400" b="1" dirty="0">
                <a:solidFill>
                  <a:srgbClr val="374151"/>
                </a:solidFill>
                <a:latin typeface="Arial" pitchFamily="34" charset="0"/>
                <a:ea typeface="Arial" pitchFamily="34" charset="-122"/>
                <a:cs typeface="Arial" pitchFamily="34" charset="-120"/>
              </a:rPr>
              <a:t>—</a:t>
            </a:r>
            <a:endParaRPr lang="en-US" sz="1400" dirty="0"/>
          </a:p>
        </p:txBody>
      </p:sp>
      <p:sp>
        <p:nvSpPr>
          <p:cNvPr id="64" name="Shape 61"/>
          <p:cNvSpPr/>
          <p:nvPr/>
        </p:nvSpPr>
        <p:spPr>
          <a:xfrm>
            <a:off x="137160" y="3703320"/>
            <a:ext cx="1645920" cy="502920"/>
          </a:xfrm>
          <a:prstGeom prst="rect">
            <a:avLst/>
          </a:prstGeom>
          <a:solidFill>
            <a:srgbClr val="1A1025"/>
          </a:solidFill>
          <a:ln/>
        </p:spPr>
      </p:sp>
      <p:sp>
        <p:nvSpPr>
          <p:cNvPr id="65" name="Text 62"/>
          <p:cNvSpPr/>
          <p:nvPr/>
        </p:nvSpPr>
        <p:spPr>
          <a:xfrm>
            <a:off x="228600" y="3703320"/>
            <a:ext cx="1463040" cy="502920"/>
          </a:xfrm>
          <a:prstGeom prst="rect">
            <a:avLst/>
          </a:prstGeom>
          <a:noFill/>
          <a:ln/>
        </p:spPr>
        <p:txBody>
          <a:bodyPr wrap="square" lIns="0" tIns="0" rIns="0" bIns="0" rtlCol="0" anchor="ctr"/>
          <a:lstStyle/>
          <a:p>
            <a:pPr indent="0" marL="0">
              <a:buNone/>
            </a:pPr>
            <a:r>
              <a:rPr lang="en-US" sz="1100" b="1" dirty="0">
                <a:solidFill>
                  <a:srgbClr val="FF9B26"/>
                </a:solidFill>
                <a:latin typeface="Calibri" pitchFamily="34" charset="0"/>
                <a:ea typeface="Calibri" pitchFamily="34" charset="-122"/>
                <a:cs typeface="Calibri" pitchFamily="34" charset="-120"/>
              </a:rPr>
              <a:t>OrgLookup</a:t>
            </a:r>
            <a:endParaRPr lang="en-US" sz="1100" dirty="0"/>
          </a:p>
        </p:txBody>
      </p:sp>
      <p:sp>
        <p:nvSpPr>
          <p:cNvPr id="66" name="Shape 63"/>
          <p:cNvSpPr/>
          <p:nvPr/>
        </p:nvSpPr>
        <p:spPr>
          <a:xfrm>
            <a:off x="1783080" y="3703320"/>
            <a:ext cx="1143000" cy="502920"/>
          </a:xfrm>
          <a:prstGeom prst="rect">
            <a:avLst/>
          </a:prstGeom>
          <a:solidFill>
            <a:srgbClr val="1A1025"/>
          </a:solidFill>
          <a:ln/>
        </p:spPr>
      </p:sp>
      <p:sp>
        <p:nvSpPr>
          <p:cNvPr id="67" name="Text 64"/>
          <p:cNvSpPr/>
          <p:nvPr/>
        </p:nvSpPr>
        <p:spPr>
          <a:xfrm>
            <a:off x="1783080" y="3703320"/>
            <a:ext cx="1143000" cy="502920"/>
          </a:xfrm>
          <a:prstGeom prst="rect">
            <a:avLst/>
          </a:prstGeom>
          <a:noFill/>
          <a:ln/>
        </p:spPr>
        <p:txBody>
          <a:bodyPr wrap="square" lIns="0" tIns="0" rIns="0" bIns="0" rtlCol="0" anchor="ctr"/>
          <a:lstStyle/>
          <a:p>
            <a:pPr algn="ctr" indent="0" marL="0">
              <a:buNone/>
            </a:pPr>
            <a:r>
              <a:rPr lang="en-US" sz="1400" b="1" dirty="0">
                <a:solidFill>
                  <a:srgbClr val="22C55E"/>
                </a:solidFill>
                <a:latin typeface="Arial" pitchFamily="34" charset="0"/>
                <a:ea typeface="Arial" pitchFamily="34" charset="-122"/>
                <a:cs typeface="Arial" pitchFamily="34" charset="-120"/>
              </a:rPr>
              <a:t>✓</a:t>
            </a:r>
            <a:endParaRPr lang="en-US" sz="1400" dirty="0"/>
          </a:p>
        </p:txBody>
      </p:sp>
      <p:sp>
        <p:nvSpPr>
          <p:cNvPr id="68" name="Shape 65"/>
          <p:cNvSpPr/>
          <p:nvPr/>
        </p:nvSpPr>
        <p:spPr>
          <a:xfrm>
            <a:off x="2926080" y="3703320"/>
            <a:ext cx="1143000" cy="502920"/>
          </a:xfrm>
          <a:prstGeom prst="rect">
            <a:avLst/>
          </a:prstGeom>
          <a:solidFill>
            <a:srgbClr val="1A1025"/>
          </a:solidFill>
          <a:ln/>
        </p:spPr>
      </p:sp>
      <p:sp>
        <p:nvSpPr>
          <p:cNvPr id="69" name="Text 66"/>
          <p:cNvSpPr/>
          <p:nvPr/>
        </p:nvSpPr>
        <p:spPr>
          <a:xfrm>
            <a:off x="2926080" y="3703320"/>
            <a:ext cx="1143000" cy="502920"/>
          </a:xfrm>
          <a:prstGeom prst="rect">
            <a:avLst/>
          </a:prstGeom>
          <a:noFill/>
          <a:ln/>
        </p:spPr>
        <p:txBody>
          <a:bodyPr wrap="square" lIns="0" tIns="0" rIns="0" bIns="0" rtlCol="0" anchor="ctr"/>
          <a:lstStyle/>
          <a:p>
            <a:pPr algn="ctr" indent="0" marL="0">
              <a:buNone/>
            </a:pPr>
            <a:r>
              <a:rPr lang="en-US" sz="1400" b="1" dirty="0">
                <a:solidFill>
                  <a:srgbClr val="22C55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4069080" y="3703320"/>
            <a:ext cx="1143000" cy="502920"/>
          </a:xfrm>
          <a:prstGeom prst="rect">
            <a:avLst/>
          </a:prstGeom>
          <a:solidFill>
            <a:srgbClr val="1A1025"/>
          </a:solidFill>
          <a:ln/>
        </p:spPr>
      </p:sp>
      <p:sp>
        <p:nvSpPr>
          <p:cNvPr id="71" name="Text 68"/>
          <p:cNvSpPr/>
          <p:nvPr/>
        </p:nvSpPr>
        <p:spPr>
          <a:xfrm>
            <a:off x="4069080" y="3703320"/>
            <a:ext cx="1143000" cy="502920"/>
          </a:xfrm>
          <a:prstGeom prst="rect">
            <a:avLst/>
          </a:prstGeom>
          <a:noFill/>
          <a:ln/>
        </p:spPr>
        <p:txBody>
          <a:bodyPr wrap="square" lIns="0" tIns="0" rIns="0" bIns="0" rtlCol="0" anchor="ctr"/>
          <a:lstStyle/>
          <a:p>
            <a:pPr algn="ctr" indent="0" marL="0">
              <a:buNone/>
            </a:pPr>
            <a:r>
              <a:rPr lang="en-US" sz="1400" b="1" dirty="0">
                <a:solidFill>
                  <a:srgbClr val="22C55E"/>
                </a:solidFill>
                <a:latin typeface="Arial" pitchFamily="34" charset="0"/>
                <a:ea typeface="Arial" pitchFamily="34" charset="-122"/>
                <a:cs typeface="Arial" pitchFamily="34" charset="-120"/>
              </a:rPr>
              <a:t>✓</a:t>
            </a:r>
            <a:endParaRPr lang="en-US" sz="1400" dirty="0"/>
          </a:p>
        </p:txBody>
      </p:sp>
      <p:sp>
        <p:nvSpPr>
          <p:cNvPr id="72" name="Shape 69"/>
          <p:cNvSpPr/>
          <p:nvPr/>
        </p:nvSpPr>
        <p:spPr>
          <a:xfrm>
            <a:off x="5212080" y="3703320"/>
            <a:ext cx="1143000" cy="502920"/>
          </a:xfrm>
          <a:prstGeom prst="rect">
            <a:avLst/>
          </a:prstGeom>
          <a:solidFill>
            <a:srgbClr val="1A1025"/>
          </a:solidFill>
          <a:ln/>
        </p:spPr>
      </p:sp>
      <p:sp>
        <p:nvSpPr>
          <p:cNvPr id="73" name="Text 70"/>
          <p:cNvSpPr/>
          <p:nvPr/>
        </p:nvSpPr>
        <p:spPr>
          <a:xfrm>
            <a:off x="5212080" y="3703320"/>
            <a:ext cx="1143000" cy="502920"/>
          </a:xfrm>
          <a:prstGeom prst="rect">
            <a:avLst/>
          </a:prstGeom>
          <a:noFill/>
          <a:ln/>
        </p:spPr>
        <p:txBody>
          <a:bodyPr wrap="square" lIns="0" tIns="0" rIns="0" bIns="0" rtlCol="0" anchor="ctr"/>
          <a:lstStyle/>
          <a:p>
            <a:pPr algn="ctr" indent="0" marL="0">
              <a:buNone/>
            </a:pPr>
            <a:r>
              <a:rPr lang="en-US" sz="1400" b="1" dirty="0">
                <a:solidFill>
                  <a:srgbClr val="22C55E"/>
                </a:solidFill>
                <a:latin typeface="Arial" pitchFamily="34" charset="0"/>
                <a:ea typeface="Arial" pitchFamily="34" charset="-122"/>
                <a:cs typeface="Arial" pitchFamily="34" charset="-120"/>
              </a:rPr>
              <a:t>✓</a:t>
            </a:r>
            <a:endParaRPr lang="en-US" sz="1400" dirty="0"/>
          </a:p>
        </p:txBody>
      </p:sp>
      <p:sp>
        <p:nvSpPr>
          <p:cNvPr id="74" name="Shape 71"/>
          <p:cNvSpPr/>
          <p:nvPr/>
        </p:nvSpPr>
        <p:spPr>
          <a:xfrm>
            <a:off x="6355080" y="3703320"/>
            <a:ext cx="1143000" cy="502920"/>
          </a:xfrm>
          <a:prstGeom prst="rect">
            <a:avLst/>
          </a:prstGeom>
          <a:solidFill>
            <a:srgbClr val="1A1025"/>
          </a:solidFill>
          <a:ln/>
        </p:spPr>
      </p:sp>
      <p:sp>
        <p:nvSpPr>
          <p:cNvPr id="75" name="Text 72"/>
          <p:cNvSpPr/>
          <p:nvPr/>
        </p:nvSpPr>
        <p:spPr>
          <a:xfrm>
            <a:off x="6355080" y="3703320"/>
            <a:ext cx="1143000" cy="502920"/>
          </a:xfrm>
          <a:prstGeom prst="rect">
            <a:avLst/>
          </a:prstGeom>
          <a:noFill/>
          <a:ln/>
        </p:spPr>
        <p:txBody>
          <a:bodyPr wrap="square" lIns="0" tIns="0" rIns="0" bIns="0" rtlCol="0" anchor="ctr"/>
          <a:lstStyle/>
          <a:p>
            <a:pPr algn="ctr" indent="0" marL="0">
              <a:buNone/>
            </a:pPr>
            <a:r>
              <a:rPr lang="en-US" sz="1400" b="1" dirty="0">
                <a:solidFill>
                  <a:srgbClr val="22C55E"/>
                </a:solidFill>
                <a:latin typeface="Arial" pitchFamily="34" charset="0"/>
                <a:ea typeface="Arial" pitchFamily="34" charset="-122"/>
                <a:cs typeface="Arial" pitchFamily="34" charset="-120"/>
              </a:rPr>
              <a:t>✓</a:t>
            </a:r>
            <a:endParaRPr lang="en-US" sz="1400" dirty="0"/>
          </a:p>
        </p:txBody>
      </p:sp>
      <p:sp>
        <p:nvSpPr>
          <p:cNvPr id="76" name="Shape 73"/>
          <p:cNvSpPr/>
          <p:nvPr/>
        </p:nvSpPr>
        <p:spPr>
          <a:xfrm>
            <a:off x="457200" y="4160520"/>
            <a:ext cx="8229600" cy="731520"/>
          </a:xfrm>
          <a:prstGeom prst="rect">
            <a:avLst/>
          </a:prstGeom>
          <a:solidFill>
            <a:srgbClr val="1A1D27"/>
          </a:solidFill>
          <a:ln/>
        </p:spPr>
      </p:sp>
      <p:sp>
        <p:nvSpPr>
          <p:cNvPr id="77" name="Shape 74"/>
          <p:cNvSpPr/>
          <p:nvPr/>
        </p:nvSpPr>
        <p:spPr>
          <a:xfrm>
            <a:off x="457200" y="4160520"/>
            <a:ext cx="54864" cy="731520"/>
          </a:xfrm>
          <a:prstGeom prst="rect">
            <a:avLst/>
          </a:prstGeom>
          <a:solidFill>
            <a:srgbClr val="FF9B26"/>
          </a:solidFill>
          <a:ln/>
        </p:spPr>
      </p:sp>
      <p:sp>
        <p:nvSpPr>
          <p:cNvPr id="78" name="Text 75"/>
          <p:cNvSpPr/>
          <p:nvPr/>
        </p:nvSpPr>
        <p:spPr>
          <a:xfrm>
            <a:off x="777240" y="4160520"/>
            <a:ext cx="7680960" cy="731520"/>
          </a:xfrm>
          <a:prstGeom prst="rect">
            <a:avLst/>
          </a:prstGeom>
          <a:noFill/>
          <a:ln/>
        </p:spPr>
        <p:txBody>
          <a:bodyPr wrap="square" lIns="0" tIns="0" rIns="0" bIns="0" rtlCol="0" anchor="ctr"/>
          <a:lstStyle/>
          <a:p>
            <a:pPr indent="0" marL="0">
              <a:buNone/>
            </a:pPr>
            <a:r>
              <a:rPr lang="en-US" sz="1100" dirty="0">
                <a:solidFill>
                  <a:srgbClr val="E5E7EB"/>
                </a:solidFill>
                <a:latin typeface="Calibri" pitchFamily="34" charset="0"/>
                <a:ea typeface="Calibri" pitchFamily="34" charset="-122"/>
                <a:cs typeface="Calibri" pitchFamily="34" charset="-120"/>
              </a:rPr>
              <a:t>OrgLookup est le seul a analyser directement les metadonnees (sans dependre d'une API Salesforce en beta depuis 6 ans), a detecter les integrations cachees, et a identifier les failles de securite dans le code que l'agent execute.</a:t>
            </a:r>
            <a:endParaRPr lang="en-US" sz="1100" dirty="0"/>
          </a:p>
          <a:p>
            <a:pPr indent="0" marL="0">
              <a:buNone/>
            </a:pPr>
            <a:r>
              <a:rPr lang="en-US" sz="1000" dirty="0">
                <a:solidFill>
                  <a:srgbClr val="9CA3AF"/>
                </a:solidFill>
                <a:latin typeface="Calibri" pitchFamily="34" charset="0"/>
                <a:ea typeface="Calibri" pitchFamily="34" charset="-122"/>
                <a:cs typeface="Calibri" pitchFamily="34" charset="-120"/>
              </a:rPr>
              <a:t>Les sondes de mesure ajoutent un avantage cumulatif : les scores s'ameliorent chaque jour avec des donnees reelles.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274320"/>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Go-to-Market : </a:t>
            </a:r>
            <a:pPr indent="0" marL="0">
              <a:buNone/>
            </a:pPr>
            <a:r>
              <a:rPr lang="en-US" sz="2600" b="1" dirty="0">
                <a:solidFill>
                  <a:srgbClr val="FF9B26"/>
                </a:solidFill>
                <a:latin typeface="Georgia" pitchFamily="34" charset="0"/>
                <a:ea typeface="Georgia" pitchFamily="34" charset="-122"/>
                <a:cs typeface="Georgia" pitchFamily="34" charset="-120"/>
              </a:rPr>
              <a:t>confiance d'abord</a:t>
            </a:r>
            <a:endParaRPr lang="en-US" sz="2600" dirty="0"/>
          </a:p>
        </p:txBody>
      </p:sp>
      <p:sp>
        <p:nvSpPr>
          <p:cNvPr id="4" name="Text 1"/>
          <p:cNvSpPr/>
          <p:nvPr/>
        </p:nvSpPr>
        <p:spPr>
          <a:xfrm>
            <a:off x="731520" y="822960"/>
            <a:ext cx="6400800" cy="45720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On prouve la valeur en lecture seule (diagnostic) avant de toucher a quoi que ce soit. L'utilisateur fait confiance au GPS avant de laisser la voiture conduire.</a:t>
            </a:r>
            <a:endParaRPr lang="en-US" sz="1200" dirty="0"/>
          </a:p>
        </p:txBody>
      </p:sp>
      <p:sp>
        <p:nvSpPr>
          <p:cNvPr id="5" name="Shape 2"/>
          <p:cNvSpPr/>
          <p:nvPr/>
        </p:nvSpPr>
        <p:spPr>
          <a:xfrm>
            <a:off x="457200" y="1463040"/>
            <a:ext cx="2651760" cy="2926080"/>
          </a:xfrm>
          <a:prstGeom prst="rect">
            <a:avLst/>
          </a:prstGeom>
          <a:solidFill>
            <a:srgbClr val="1A1D27"/>
          </a:solidFill>
          <a:ln/>
        </p:spPr>
      </p:sp>
      <p:sp>
        <p:nvSpPr>
          <p:cNvPr id="6" name="Shape 3"/>
          <p:cNvSpPr/>
          <p:nvPr/>
        </p:nvSpPr>
        <p:spPr>
          <a:xfrm>
            <a:off x="457200" y="1463040"/>
            <a:ext cx="2651760" cy="45720"/>
          </a:xfrm>
          <a:prstGeom prst="rect">
            <a:avLst/>
          </a:prstGeom>
          <a:solidFill>
            <a:srgbClr val="22C55E"/>
          </a:solidFill>
          <a:ln/>
        </p:spPr>
      </p:sp>
      <p:sp>
        <p:nvSpPr>
          <p:cNvPr id="7" name="Text 4"/>
          <p:cNvSpPr/>
          <p:nvPr/>
        </p:nvSpPr>
        <p:spPr>
          <a:xfrm>
            <a:off x="457200" y="1645920"/>
            <a:ext cx="2651760" cy="274320"/>
          </a:xfrm>
          <a:prstGeom prst="rect">
            <a:avLst/>
          </a:prstGeom>
          <a:noFill/>
          <a:ln/>
        </p:spPr>
        <p:txBody>
          <a:bodyPr wrap="square" lIns="0" tIns="0" rIns="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Maintenant</a:t>
            </a:r>
            <a:endParaRPr lang="en-US" sz="1000" dirty="0"/>
          </a:p>
        </p:txBody>
      </p:sp>
      <p:sp>
        <p:nvSpPr>
          <p:cNvPr id="8" name="Text 5"/>
          <p:cNvSpPr/>
          <p:nvPr/>
        </p:nvSpPr>
        <p:spPr>
          <a:xfrm>
            <a:off x="457200" y="1920240"/>
            <a:ext cx="2651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The Scanner</a:t>
            </a:r>
            <a:endParaRPr lang="en-US" sz="1800" dirty="0"/>
          </a:p>
        </p:txBody>
      </p:sp>
      <p:sp>
        <p:nvSpPr>
          <p:cNvPr id="9" name="Text 6"/>
          <p:cNvSpPr/>
          <p:nvPr/>
        </p:nvSpPr>
        <p:spPr>
          <a:xfrm>
            <a:off x="731520" y="2377440"/>
            <a:ext cx="2103120" cy="109728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Graphe + 3 vues predefinies</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Agent IA (9 outils)</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Sondes Sentinel (opt-in)</a:t>
            </a:r>
            <a:endParaRPr lang="en-US" sz="1050" dirty="0"/>
          </a:p>
        </p:txBody>
      </p:sp>
      <p:sp>
        <p:nvSpPr>
          <p:cNvPr id="10" name="Shape 7"/>
          <p:cNvSpPr/>
          <p:nvPr/>
        </p:nvSpPr>
        <p:spPr>
          <a:xfrm>
            <a:off x="731520" y="3566160"/>
            <a:ext cx="2103120" cy="36576"/>
          </a:xfrm>
          <a:prstGeom prst="rect">
            <a:avLst/>
          </a:prstGeom>
          <a:solidFill>
            <a:srgbClr val="2D3748"/>
          </a:solidFill>
          <a:ln/>
        </p:spPr>
      </p:sp>
      <p:pic>
        <p:nvPicPr>
          <p:cNvPr id="11" name="Image 1" descr="preencoded.png">    </p:cNvPr>
          <p:cNvPicPr>
            <a:picLocks noChangeAspect="1"/>
          </p:cNvPicPr>
          <p:nvPr/>
        </p:nvPicPr>
        <p:blipFill>
          <a:blip r:embed="rId2"/>
          <a:stretch>
            <a:fillRect/>
          </a:stretch>
        </p:blipFill>
        <p:spPr>
          <a:xfrm>
            <a:off x="731520" y="3749040"/>
            <a:ext cx="228600" cy="228600"/>
          </a:xfrm>
          <a:prstGeom prst="rect">
            <a:avLst/>
          </a:prstGeom>
        </p:spPr>
      </p:pic>
      <p:sp>
        <p:nvSpPr>
          <p:cNvPr id="12" name="Text 8"/>
          <p:cNvSpPr/>
          <p:nvPr/>
        </p:nvSpPr>
        <p:spPr>
          <a:xfrm>
            <a:off x="1051560" y="3749040"/>
            <a:ext cx="18288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Beta fermee</a:t>
            </a:r>
            <a:endParaRPr lang="en-US" sz="900" dirty="0"/>
          </a:p>
        </p:txBody>
      </p:sp>
      <p:sp>
        <p:nvSpPr>
          <p:cNvPr id="13" name="Shape 9"/>
          <p:cNvSpPr/>
          <p:nvPr/>
        </p:nvSpPr>
        <p:spPr>
          <a:xfrm>
            <a:off x="3337560" y="1463040"/>
            <a:ext cx="2651760" cy="2926080"/>
          </a:xfrm>
          <a:prstGeom prst="rect">
            <a:avLst/>
          </a:prstGeom>
          <a:solidFill>
            <a:srgbClr val="1A1D27"/>
          </a:solidFill>
          <a:ln/>
        </p:spPr>
      </p:sp>
      <p:sp>
        <p:nvSpPr>
          <p:cNvPr id="14" name="Shape 10"/>
          <p:cNvSpPr/>
          <p:nvPr/>
        </p:nvSpPr>
        <p:spPr>
          <a:xfrm>
            <a:off x="3337560" y="1463040"/>
            <a:ext cx="2651760" cy="45720"/>
          </a:xfrm>
          <a:prstGeom prst="rect">
            <a:avLst/>
          </a:prstGeom>
          <a:solidFill>
            <a:srgbClr val="FF9B26"/>
          </a:solidFill>
          <a:ln/>
        </p:spPr>
      </p:sp>
      <p:sp>
        <p:nvSpPr>
          <p:cNvPr id="15" name="Text 11"/>
          <p:cNvSpPr/>
          <p:nvPr/>
        </p:nvSpPr>
        <p:spPr>
          <a:xfrm>
            <a:off x="3337560" y="1645920"/>
            <a:ext cx="2651760" cy="274320"/>
          </a:xfrm>
          <a:prstGeom prst="rect">
            <a:avLst/>
          </a:prstGeom>
          <a:noFill/>
          <a:ln/>
        </p:spPr>
        <p:txBody>
          <a:bodyPr wrap="square" lIns="0" tIns="0" rIns="0" bIns="0" rtlCol="0" anchor="ctr"/>
          <a:lstStyle/>
          <a:p>
            <a:pPr algn="ctr" indent="0" marL="0">
              <a:buNone/>
            </a:pPr>
            <a:r>
              <a:rPr lang="en-US" sz="1000" b="1" dirty="0">
                <a:solidFill>
                  <a:srgbClr val="FF9B26"/>
                </a:solidFill>
                <a:latin typeface="Arial" pitchFamily="34" charset="0"/>
                <a:ea typeface="Arial" pitchFamily="34" charset="-122"/>
                <a:cs typeface="Arial" pitchFamily="34" charset="-120"/>
              </a:rPr>
              <a:t>+3 mois</a:t>
            </a:r>
            <a:endParaRPr lang="en-US" sz="1000" dirty="0"/>
          </a:p>
        </p:txBody>
      </p:sp>
      <p:sp>
        <p:nvSpPr>
          <p:cNvPr id="16" name="Text 12"/>
          <p:cNvSpPr/>
          <p:nvPr/>
        </p:nvSpPr>
        <p:spPr>
          <a:xfrm>
            <a:off x="3337560" y="1920240"/>
            <a:ext cx="2651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The Advisor</a:t>
            </a:r>
            <a:endParaRPr lang="en-US" sz="1800" dirty="0"/>
          </a:p>
        </p:txBody>
      </p:sp>
      <p:sp>
        <p:nvSpPr>
          <p:cNvPr id="17" name="Text 13"/>
          <p:cNvSpPr/>
          <p:nvPr/>
        </p:nvSpPr>
        <p:spPr>
          <a:xfrm>
            <a:off x="3611880" y="2377440"/>
            <a:ext cx="2103120" cy="109728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Monitoring continu + alertes</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Impact analysis avant deploy</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Quality gate CI/CD</a:t>
            </a:r>
            <a:endParaRPr lang="en-US" sz="1050" dirty="0"/>
          </a:p>
        </p:txBody>
      </p:sp>
      <p:sp>
        <p:nvSpPr>
          <p:cNvPr id="18" name="Shape 14"/>
          <p:cNvSpPr/>
          <p:nvPr/>
        </p:nvSpPr>
        <p:spPr>
          <a:xfrm>
            <a:off x="3611880" y="3566160"/>
            <a:ext cx="2103120" cy="36576"/>
          </a:xfrm>
          <a:prstGeom prst="rect">
            <a:avLst/>
          </a:prstGeom>
          <a:solidFill>
            <a:srgbClr val="2D3748"/>
          </a:solidFill>
          <a:ln/>
        </p:spPr>
      </p:sp>
      <p:pic>
        <p:nvPicPr>
          <p:cNvPr id="19" name="Image 2" descr="preencoded.png">    </p:cNvPr>
          <p:cNvPicPr>
            <a:picLocks noChangeAspect="1"/>
          </p:cNvPicPr>
          <p:nvPr/>
        </p:nvPicPr>
        <p:blipFill>
          <a:blip r:embed="rId3"/>
          <a:stretch>
            <a:fillRect/>
          </a:stretch>
        </p:blipFill>
        <p:spPr>
          <a:xfrm>
            <a:off x="3611880" y="3749040"/>
            <a:ext cx="228600" cy="228600"/>
          </a:xfrm>
          <a:prstGeom prst="rect">
            <a:avLst/>
          </a:prstGeom>
        </p:spPr>
      </p:pic>
      <p:sp>
        <p:nvSpPr>
          <p:cNvPr id="20" name="Text 15"/>
          <p:cNvSpPr/>
          <p:nvPr/>
        </p:nvSpPr>
        <p:spPr>
          <a:xfrm>
            <a:off x="3931920" y="3749040"/>
            <a:ext cx="18288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Premiers clients payants</a:t>
            </a:r>
            <a:endParaRPr lang="en-US" sz="900" dirty="0"/>
          </a:p>
        </p:txBody>
      </p:sp>
      <p:sp>
        <p:nvSpPr>
          <p:cNvPr id="21" name="Shape 16"/>
          <p:cNvSpPr/>
          <p:nvPr/>
        </p:nvSpPr>
        <p:spPr>
          <a:xfrm>
            <a:off x="6217920" y="1463040"/>
            <a:ext cx="2651760" cy="2926080"/>
          </a:xfrm>
          <a:prstGeom prst="rect">
            <a:avLst/>
          </a:prstGeom>
          <a:solidFill>
            <a:srgbClr val="1A1D27"/>
          </a:solidFill>
          <a:ln/>
        </p:spPr>
      </p:sp>
      <p:sp>
        <p:nvSpPr>
          <p:cNvPr id="22" name="Shape 17"/>
          <p:cNvSpPr/>
          <p:nvPr/>
        </p:nvSpPr>
        <p:spPr>
          <a:xfrm>
            <a:off x="6217920" y="1463040"/>
            <a:ext cx="2651760" cy="45720"/>
          </a:xfrm>
          <a:prstGeom prst="rect">
            <a:avLst/>
          </a:prstGeom>
          <a:solidFill>
            <a:srgbClr val="E768E6"/>
          </a:solidFill>
          <a:ln/>
        </p:spPr>
      </p:sp>
      <p:sp>
        <p:nvSpPr>
          <p:cNvPr id="23" name="Text 18"/>
          <p:cNvSpPr/>
          <p:nvPr/>
        </p:nvSpPr>
        <p:spPr>
          <a:xfrm>
            <a:off x="6217920" y="1645920"/>
            <a:ext cx="2651760" cy="274320"/>
          </a:xfrm>
          <a:prstGeom prst="rect">
            <a:avLst/>
          </a:prstGeom>
          <a:noFill/>
          <a:ln/>
        </p:spPr>
        <p:txBody>
          <a:bodyPr wrap="square" lIns="0" tIns="0" rIns="0" bIns="0" rtlCol="0" anchor="ctr"/>
          <a:lstStyle/>
          <a:p>
            <a:pPr algn="ctr" indent="0" marL="0">
              <a:buNone/>
            </a:pPr>
            <a:r>
              <a:rPr lang="en-US" sz="1000" b="1" dirty="0">
                <a:solidFill>
                  <a:srgbClr val="E768E6"/>
                </a:solidFill>
                <a:latin typeface="Arial" pitchFamily="34" charset="0"/>
                <a:ea typeface="Arial" pitchFamily="34" charset="-122"/>
                <a:cs typeface="Arial" pitchFamily="34" charset="-120"/>
              </a:rPr>
              <a:t>+6 mois</a:t>
            </a:r>
            <a:endParaRPr lang="en-US" sz="1000" dirty="0"/>
          </a:p>
        </p:txBody>
      </p:sp>
      <p:sp>
        <p:nvSpPr>
          <p:cNvPr id="24" name="Text 19"/>
          <p:cNvSpPr/>
          <p:nvPr/>
        </p:nvSpPr>
        <p:spPr>
          <a:xfrm>
            <a:off x="6217920" y="1920240"/>
            <a:ext cx="2651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The Platform</a:t>
            </a:r>
            <a:endParaRPr lang="en-US" sz="1800" dirty="0"/>
          </a:p>
        </p:txBody>
      </p:sp>
      <p:sp>
        <p:nvSpPr>
          <p:cNvPr id="25" name="Text 20"/>
          <p:cNvSpPr/>
          <p:nvPr/>
        </p:nvSpPr>
        <p:spPr>
          <a:xfrm>
            <a:off x="6492240" y="2377440"/>
            <a:ext cx="2103120" cy="1097280"/>
          </a:xfrm>
          <a:prstGeom prst="rect">
            <a:avLst/>
          </a:prstGeom>
          <a:noFill/>
          <a:ln/>
        </p:spPr>
        <p:txBody>
          <a:bodyPr wrap="square" lIns="0" tIns="0" rIns="0" bIns="0" rtlCol="0" anchor="ctr"/>
          <a:lstStyle/>
          <a:p>
            <a:pPr indent="0" marL="0">
              <a:buNone/>
            </a:pPr>
            <a:r>
              <a:rPr lang="en-US" sz="1050" dirty="0">
                <a:solidFill>
                  <a:srgbClr val="9CA3AF"/>
                </a:solidFill>
                <a:latin typeface="Calibri" pitchFamily="34" charset="0"/>
                <a:ea typeface="Calibri" pitchFamily="34" charset="-122"/>
                <a:cs typeface="Calibri" pitchFamily="34" charset="-120"/>
              </a:rPr>
              <a:t>Multi-org / M&amp;A comparison</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Rapports compliance (SOX/GDPR)</a:t>
            </a:r>
            <a:endParaRPr lang="en-US" sz="1050" dirty="0"/>
          </a:p>
          <a:p>
            <a:pPr indent="0" marL="0">
              <a:buNone/>
            </a:pPr>
            <a:r>
              <a:rPr lang="en-US" sz="1050" dirty="0">
                <a:solidFill>
                  <a:srgbClr val="9CA3AF"/>
                </a:solidFill>
                <a:latin typeface="Calibri" pitchFamily="34" charset="0"/>
                <a:ea typeface="Calibri" pitchFamily="34" charset="-122"/>
                <a:cs typeface="Calibri" pitchFamily="34" charset="-120"/>
              </a:rPr>
              <a:t>Cleanup packs + rollback</a:t>
            </a:r>
            <a:endParaRPr lang="en-US" sz="1050" dirty="0"/>
          </a:p>
        </p:txBody>
      </p:sp>
      <p:sp>
        <p:nvSpPr>
          <p:cNvPr id="26" name="Shape 21"/>
          <p:cNvSpPr/>
          <p:nvPr/>
        </p:nvSpPr>
        <p:spPr>
          <a:xfrm>
            <a:off x="6492240" y="3566160"/>
            <a:ext cx="2103120" cy="36576"/>
          </a:xfrm>
          <a:prstGeom prst="rect">
            <a:avLst/>
          </a:prstGeom>
          <a:solidFill>
            <a:srgbClr val="2D3748"/>
          </a:solidFill>
          <a:ln/>
        </p:spPr>
      </p:sp>
      <p:pic>
        <p:nvPicPr>
          <p:cNvPr id="27" name="Image 3" descr="preencoded.png">    </p:cNvPr>
          <p:cNvPicPr>
            <a:picLocks noChangeAspect="1"/>
          </p:cNvPicPr>
          <p:nvPr/>
        </p:nvPicPr>
        <p:blipFill>
          <a:blip r:embed="rId4"/>
          <a:stretch>
            <a:fillRect/>
          </a:stretch>
        </p:blipFill>
        <p:spPr>
          <a:xfrm>
            <a:off x="6492240" y="3749040"/>
            <a:ext cx="228600" cy="228600"/>
          </a:xfrm>
          <a:prstGeom prst="rect">
            <a:avLst/>
          </a:prstGeom>
        </p:spPr>
      </p:pic>
      <p:sp>
        <p:nvSpPr>
          <p:cNvPr id="28" name="Text 22"/>
          <p:cNvSpPr/>
          <p:nvPr/>
        </p:nvSpPr>
        <p:spPr>
          <a:xfrm>
            <a:off x="6812280" y="3749040"/>
            <a:ext cx="18288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Marche elargi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36576"/>
          </a:xfrm>
          <a:prstGeom prst="rect">
            <a:avLst/>
          </a:prstGeom>
        </p:spPr>
      </p:pic>
      <p:sp>
        <p:nvSpPr>
          <p:cNvPr id="3"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600" b="1" spc="800" kern="0" dirty="0">
                <a:solidFill>
                  <a:srgbClr val="9CA3AF"/>
                </a:solidFill>
                <a:latin typeface="Arial" pitchFamily="34" charset="0"/>
                <a:ea typeface="Arial" pitchFamily="34" charset="-122"/>
                <a:cs typeface="Arial" pitchFamily="34" charset="-120"/>
              </a:rPr>
              <a:t>ORGLOOKUP</a:t>
            </a:r>
            <a:endParaRPr lang="en-US" sz="1600" dirty="0"/>
          </a:p>
        </p:txBody>
      </p:sp>
      <p:sp>
        <p:nvSpPr>
          <p:cNvPr id="4" name="Text 1"/>
          <p:cNvSpPr/>
          <p:nvPr/>
        </p:nvSpPr>
        <p:spPr>
          <a:xfrm>
            <a:off x="731520" y="1371600"/>
            <a:ext cx="76809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Org Intelligence</a:t>
            </a:r>
            <a:endParaRPr lang="en-US" sz="3800" dirty="0"/>
          </a:p>
          <a:p>
            <a:pPr indent="0" marL="0">
              <a:buNone/>
            </a:pPr>
            <a:r>
              <a:rPr lang="en-US" sz="3800" b="1" dirty="0">
                <a:solidFill>
                  <a:srgbClr val="FF9B26"/>
                </a:solidFill>
                <a:latin typeface="Georgia" pitchFamily="34" charset="0"/>
                <a:ea typeface="Georgia" pitchFamily="34" charset="-122"/>
                <a:cs typeface="Georgia" pitchFamily="34" charset="-120"/>
              </a:rPr>
              <a:t>for the Agentic Era.</a:t>
            </a:r>
            <a:endParaRPr lang="en-US" sz="3800" dirty="0"/>
          </a:p>
        </p:txBody>
      </p:sp>
      <p:sp>
        <p:nvSpPr>
          <p:cNvPr id="5" name="Text 2"/>
          <p:cNvSpPr/>
          <p:nvPr/>
        </p:nvSpPr>
        <p:spPr>
          <a:xfrm>
            <a:off x="731520" y="2651760"/>
            <a:ext cx="6400800" cy="64008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150 000 entreprises utilisent Salesforce. Toutes ont de la dette technique.</a:t>
            </a:r>
            <a:endParaRPr lang="en-US" sz="1400" dirty="0"/>
          </a:p>
          <a:p>
            <a:pPr indent="0" marL="0">
              <a:buNone/>
            </a:pPr>
            <a:r>
              <a:rPr lang="en-US" sz="1400" dirty="0">
                <a:solidFill>
                  <a:srgbClr val="9CA3AF"/>
                </a:solidFill>
                <a:latin typeface="Calibri" pitchFamily="34" charset="0"/>
                <a:ea typeface="Calibri" pitchFamily="34" charset="-122"/>
                <a:cs typeface="Calibri" pitchFamily="34" charset="-120"/>
              </a:rPr>
              <a:t>Agentforce est le catalyseur qui les force enfin a la traiter. OrgLookup les accompagne.</a:t>
            </a:r>
            <a:endParaRPr lang="en-US" sz="1400" dirty="0"/>
          </a:p>
        </p:txBody>
      </p:sp>
      <p:sp>
        <p:nvSpPr>
          <p:cNvPr id="6" name="Text 3"/>
          <p:cNvSpPr/>
          <p:nvPr/>
        </p:nvSpPr>
        <p:spPr>
          <a:xfrm>
            <a:off x="731520" y="3474720"/>
            <a:ext cx="45720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Louis Grante</a:t>
            </a:r>
            <a:endParaRPr lang="en-US" sz="1400" dirty="0"/>
          </a:p>
          <a:p>
            <a:pPr indent="0" marL="0">
              <a:buNone/>
            </a:pPr>
            <a:r>
              <a:rPr lang="en-US" sz="1300" dirty="0">
                <a:solidFill>
                  <a:srgbClr val="FF9B26"/>
                </a:solidFill>
                <a:latin typeface="Calibri" pitchFamily="34" charset="0"/>
                <a:ea typeface="Calibri" pitchFamily="34" charset="-122"/>
                <a:cs typeface="Calibri" pitchFamily="34" charset="-120"/>
              </a:rPr>
              <a:t>louis@orglookup.com</a:t>
            </a:r>
            <a:endParaRPr lang="en-US" sz="1400" dirty="0"/>
          </a:p>
        </p:txBody>
      </p:sp>
      <p:pic>
        <p:nvPicPr>
          <p:cNvPr id="7" name="Image 1" descr="preencoded.png">    </p:cNvPr>
          <p:cNvPicPr>
            <a:picLocks noChangeAspect="1"/>
          </p:cNvPicPr>
          <p:nvPr/>
        </p:nvPicPr>
        <p:blipFill>
          <a:blip r:embed="rId2"/>
          <a:stretch>
            <a:fillRect/>
          </a:stretch>
        </p:blipFill>
        <p:spPr>
          <a:xfrm>
            <a:off x="0" y="4869180"/>
            <a:ext cx="9144000"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OrgLookup — Org Intelligence for the Agentic Era</dc:title>
  <dc:subject>PptxGenJS Presentation</dc:subject>
  <dc:creator>Louis Grante</dc:creator>
  <cp:lastModifiedBy>Louis Grante</cp:lastModifiedBy>
  <cp:revision>1</cp:revision>
  <dcterms:created xsi:type="dcterms:W3CDTF">2026-04-08T12:18:59Z</dcterms:created>
  <dcterms:modified xsi:type="dcterms:W3CDTF">2026-04-08T12:18:59Z</dcterms:modified>
</cp:coreProperties>
</file>